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7414b412f1b417b" /><Relationship Type="http://schemas.openxmlformats.org/officeDocument/2006/relationships/extended-properties" Target="/docProps/app.xml" Id="Rd6ddd5a0ba1547d2" /><Relationship Type="http://schemas.openxmlformats.org/officeDocument/2006/relationships/officeDocument" Target="/ppt/presentation.xml" Id="R3f588ba95a054fa6" /></Relationships>
</file>

<file path=ppt/presentation.xml><?xml version="1.0" encoding="utf-8"?>
<p:presentation xmlns:p="http://schemas.openxmlformats.org/presentationml/2006/main">
  <p:sldMasterIdLst>
    <p:sldMasterId xmlns:r="http://schemas.openxmlformats.org/officeDocument/2006/relationships" id="2147483648" r:id="R4d57a42a27e84a7d"/>
  </p:sldMasterIdLst>
  <p:notesMasterIdLst>
    <p:notesMasterId xmlns:r="http://schemas.openxmlformats.org/officeDocument/2006/relationships" r:id="R78082e68a8944a97"/>
  </p:notesMasterIdLst>
  <p:sldIdLst>
    <p:sldId xmlns:r="http://schemas.openxmlformats.org/officeDocument/2006/relationships" id="256" r:id="R3a3c3dc720844665"/>
    <p:sldId xmlns:r="http://schemas.openxmlformats.org/officeDocument/2006/relationships" id="257" r:id="R1917dedb6640496a"/>
    <p:sldId xmlns:r="http://schemas.openxmlformats.org/officeDocument/2006/relationships" id="258" r:id="R9f890ac033c34c15"/>
    <p:sldId xmlns:r="http://schemas.openxmlformats.org/officeDocument/2006/relationships" id="259" r:id="Rd427ea66b9e04e8f"/>
    <p:sldId xmlns:r="http://schemas.openxmlformats.org/officeDocument/2006/relationships" id="260" r:id="R7f9f69b560fa4aef"/>
    <p:sldId xmlns:r="http://schemas.openxmlformats.org/officeDocument/2006/relationships" id="261" r:id="R0b9025c8ca8348e4"/>
    <p:sldId xmlns:r="http://schemas.openxmlformats.org/officeDocument/2006/relationships" id="262" r:id="R070f1f718e5a43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5597c72e4c4639" /><Relationship Type="http://schemas.openxmlformats.org/officeDocument/2006/relationships/slideMaster" Target="/ppt/slideMasters/slideMaster1.xml" Id="R4d57a42a27e84a7d" /><Relationship Type="http://schemas.openxmlformats.org/officeDocument/2006/relationships/notesMaster" Target="/ppt/notesMasters/notesMaster1.xml" Id="R78082e68a8944a97" /><Relationship Type="http://schemas.openxmlformats.org/officeDocument/2006/relationships/presProps" Target="/ppt/presProps.xml" Id="R9fd13fdfce3a4d2a" /><Relationship Type="http://schemas.openxmlformats.org/officeDocument/2006/relationships/tableStyles" Target="/ppt/tableStyles.xml" Id="R1ec77af8b6124573" /><Relationship Type="http://schemas.openxmlformats.org/officeDocument/2006/relationships/slide" Target="/ppt/slides/slide1.xml" Id="R3a3c3dc720844665" /><Relationship Type="http://schemas.openxmlformats.org/officeDocument/2006/relationships/slide" Target="/ppt/slides/slide2.xml" Id="R1917dedb6640496a" /><Relationship Type="http://schemas.openxmlformats.org/officeDocument/2006/relationships/slide" Target="/ppt/slides/slide3.xml" Id="R9f890ac033c34c15" /><Relationship Type="http://schemas.openxmlformats.org/officeDocument/2006/relationships/slide" Target="/ppt/slides/slide4.xml" Id="Rd427ea66b9e04e8f" /><Relationship Type="http://schemas.openxmlformats.org/officeDocument/2006/relationships/slide" Target="/ppt/slides/slide5.xml" Id="R7f9f69b560fa4aef" /><Relationship Type="http://schemas.openxmlformats.org/officeDocument/2006/relationships/slide" Target="/ppt/slides/slide6.xml" Id="R0b9025c8ca8348e4" /><Relationship Type="http://schemas.openxmlformats.org/officeDocument/2006/relationships/slide" Target="/ppt/slides/slide7.xml" Id="R070f1f718e5a437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58191b83e54a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10da070d18494e" /><Relationship Type="http://schemas.openxmlformats.org/officeDocument/2006/relationships/notesMaster" Target="/ppt/notesMasters/notesMaster1.xml" Id="R503cdbf992d8423a" /></Relationships>
</file>

<file path=ppt/notesSlides/_rels/notesSlide2.xml.rels>&#65279;<?xml version="1.0" encoding="utf-8"?><Relationships xmlns="http://schemas.openxmlformats.org/package/2006/relationships"><Relationship Type="http://schemas.openxmlformats.org/officeDocument/2006/relationships/slide" Target="/ppt/slides/slide2.xml" Id="R149e876e8706425a" /><Relationship Type="http://schemas.openxmlformats.org/officeDocument/2006/relationships/notesMaster" Target="/ppt/notesMasters/notesMaster1.xml" Id="R51eff4172e0143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1d404fb1fd2b4022" /><Relationship Type="http://schemas.openxmlformats.org/officeDocument/2006/relationships/notesMaster" Target="/ppt/notesMasters/notesMaster1.xml" Id="R3826a8c3eebc4e2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2888ea103f842fa" /><Relationship Type="http://schemas.openxmlformats.org/officeDocument/2006/relationships/notesMaster" Target="/ppt/notesMasters/notesMaster1.xml" Id="R633c2ec980e449b1"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4d56c46f2249d5" /><Relationship Type="http://schemas.openxmlformats.org/officeDocument/2006/relationships/notesMaster" Target="/ppt/notesMasters/notesMaster1.xml" Id="Rf1a5cfb00c994361"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87b365b18b4e62" /><Relationship Type="http://schemas.openxmlformats.org/officeDocument/2006/relationships/notesMaster" Target="/ppt/notesMasters/notesMaster1.xml" Id="R68af55ccf9f1406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924fd9abcd42a0" /><Relationship Type="http://schemas.openxmlformats.org/officeDocument/2006/relationships/notesMaster" Target="/ppt/notesMasters/notesMaster1.xml" Id="R61a5c87530fe44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Looplight is Shivam Gupta's UnivaBio project, built with AI-assisted development. The product is a working MVP for synthetic demonstration, with no clinical validation or claimed health outcome. Open with the family scenario, then demonstrate the real application. No external visual assets are used on this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Roy CL et al. Patient safety concerns arising from test results that return after hospital discharge. Ann Intern Med. 2005. https://pubmed.ncbi.nlm.nih.gov/16027454/ . The study covers discharges in 2004 at two academic hospitals. 41% refers to patients with results returning after discharge. Do not describe this as today's global rate. The 2025 SAFER Guides include a dedicated Test Results Reporting and Follow-Up guide: https://healthit.gov/resources/2025-safer-guide-test-results-reporting-and-follow-up/ . This context supports studying the workflow, not an endorsement or claim of Looplight benefit. Anita and Maya are synthetic demonstration characters.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Verified application screenshot supplied by the build owner, captured from the running Looplight care board with fictional Anita/Maya data. The original image remains embedded and the slide crop removes blank right and bottom space. Product UI: Add discharge notes &gt; Anita’s discharge &gt; Find the open loops; Needs review; Check details &gt; Who will keep track of this? &gt; Confirm this follow-up. Engine hybrid-1.2. The app supports pasted text/text-based PDFs, whole-source sentence review, human-confirmed tasks, sign-in and saved plans, Visit brief printing, Calendar file export, and JSON export in the account. Source PDF bytes are not retained; extracted text is saved. Browser/API QA was still in progress when the screenshot was supplied.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 separates receipt of a result from the user's report that a clinician reviewed it. A named tracker is the person following up, not proof that a clinician accepted treatment responsibility. Closing a task is an administrative record of the reported outcome, not medical clearance or independently verified clinical evidence. The source text, changes, and reported outcome remain inspectable. Original uploaded PDF bytes are not retained. Show the actual transition and history in the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evaluation supplied during development: 225 original synthetic training examples; 50 separate synthetic challenge examples; raw 5-way accuracy 0.82; macro F1 approximately 0.816; configured threshold abstains on 44/50. Raw accuracy is the argmax classification score before abstention and does not describe autonomous clinical performance. This is not a real patient test set, not a document-level missed-obligation evaluation, and not a health-outcome study. All sentences remain available for human review. The build owner reconfirmed these unchanged metrics alongside engine hybrid-1.2. The model needs no paid inference 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Business hypotheses, not customer research: $149 per coordinator account/month for 100 care episodes, with a proposed $1 extra episode price. Initial buyer hypothesis: a primary-care or transitions coordinator. The current MVP uses a single coordinator account. Shared team workflows would be future work. Patients and caregivers would use the plan free. Staff-time arithmetic: 100 × 5/60 × $35 = $291.67 per month. No measured savings or willingness to pay exists. The model inference API fee is zero in the local-classifier approach, but hosting, database, support, clinical/security review, and governance costs remain. Competitors overlap: https://www.seamless.md/ , https://www.memorahealth.com/ , https://www.eonhealth.com/platform , https://welkinhealth.com/ . Do not claim exclusive features or a demonstrated moat. Proposed narrow position: an upload-first, source-reviewable follow-up ledger without initial EHR integration.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next work: interviews and retrospective review under appropriate data governance, clinician-annotated documents, then supervised prospective evaluation. Primary process measures: missed obligations and misleading extra tasks at document level, staff preparation time, review burden, named tracker/date completeness, and time to reported resolution. A small pilot cannot establish a causal reduction in readmissions. The app cannot recover care obligations absent from source records. It does not diagnose, interpret results, prescribe treatment, or determine patient safety. The code repository is the stable handoff link. The hosted app is private pending access verification, so this slide does not claim public availability. Credit: Shivam Gupta, founder and builder, with AI-assisted development.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e7dd149ccb94a5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1c79be9b91470c" /><Relationship Type="http://schemas.openxmlformats.org/officeDocument/2006/relationships/slideLayout" Target="/ppt/slideLayouts/slideLayout1.xml" Id="Rd9bf41b40485460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9bf41b40485460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f9bb6bf1def4b97" /><Relationship Type="http://schemas.openxmlformats.org/officeDocument/2006/relationships/notesSlide" Target="/ppt/notesSlides/notesSlide1.xml" Id="Rc3fdca1c1c4749c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5e95df2b34a4292" /><Relationship Type="http://schemas.openxmlformats.org/officeDocument/2006/relationships/notesSlide" Target="/ppt/notesSlides/notesSlide2.xml" Id="R0b682b8cae324cc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58f4af5b61f4d64" /><Relationship Type="http://schemas.openxmlformats.org/officeDocument/2006/relationships/image" Target="/ppt/media/image.jpeg" Id="Re7e76ced89754214" /><Relationship Type="http://schemas.openxmlformats.org/officeDocument/2006/relationships/notesSlide" Target="/ppt/notesSlides/notesSlide3.xml" Id="R5bbfd4280f364b2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ea395d441a44ee2" /><Relationship Type="http://schemas.openxmlformats.org/officeDocument/2006/relationships/notesSlide" Target="/ppt/notesSlides/notesSlide4.xml" Id="Ra920a0591adf44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f9e499453d04ad2" /><Relationship Type="http://schemas.openxmlformats.org/officeDocument/2006/relationships/notesSlide" Target="/ppt/notesSlides/notesSlide5.xml" Id="Rb9a82410157f488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e34f8a436514b01" /><Relationship Type="http://schemas.openxmlformats.org/officeDocument/2006/relationships/notesSlide" Target="/ppt/notesSlides/notesSlide6.xml" Id="R11a66fd0d39e493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aa4def7644a417d" /><Relationship Type="http://schemas.openxmlformats.org/officeDocument/2006/relationships/notesSlide" Target="/ppt/notesSlides/notesSlide7.xml" Id="R4691c737830c4115" /></Relationships>
</file>

<file path=ppt/slides/slide1.xml><?xml version="1.0" encoding="utf-8"?>
<p:sld xmlns:p="http://schemas.openxmlformats.org/presentationml/2006/main">
  <p:cSld>
    <p:bg>
      <p:bgPr>
        <a:solidFill xmlns:a="http://schemas.openxmlformats.org/drawingml/2006/main">
          <a:srgbClr val="102238"/>
        </a:solidFill>
      </p:bgPr>
    </p:bg>
    <p:spTree>
      <p:nvGrpSpPr>
        <p:cNvPr id="1" name=""/>
        <p:cNvGrpSpPr/>
        <p:nvPr/>
      </p:nvGrpSpPr>
      <p:grpSpPr>
        <a:xfrm xmlns:a="http://schemas.openxmlformats.org/drawingml/2006/main"/>
      </p:grpSpPr>
      <p:sp>
        <p:nvSpPr>
          <p:cNvPr id="6" name="text-1">
            <a:extLst xmlns:a="http://schemas.openxmlformats.org/drawingml/2006/main">
              <a:ext uri="{FF2B5EF4-FFF2-40B4-BE49-F238E27FC236}">
                <a16:creationId xmlns:a16="http://schemas.microsoft.com/office/drawing/2014/main" id="{8E35F1E5-C70B-437A-B404-22C922FE2291}"/>
              </a:ext>
            </a:extLst>
          </p:cNvPr>
          <p:cNvSpPr>
            <a:spLocks xmlns:a="http://schemas.openxmlformats.org/drawingml/2006/main" noGrp="1"/>
          </p:cNvSpPr>
          <p:nvPr/>
        </p:nvSpPr>
        <p:spPr>
          <a:xfrm xmlns:a="http://schemas.openxmlformats.org/drawingml/2006/main">
            <a:off x="685800" y="552450"/>
            <a:ext cx="857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C7F578"/>
                </a:solidFill>
                <a:latin typeface="Noto Sans"/>
                <a:ea typeface="Noto Sans"/>
                <a:cs typeface="Noto Sans"/>
              </a:defRPr>
            </a:pPr>
            <a:r>
              <a:rPr sz="2175" b="1">
                <a:solidFill>
                  <a:srgbClr val="C7F578"/>
                </a:solidFill>
                <a:latin typeface="Noto Sans"/>
                <a:ea typeface="Noto Sans"/>
                <a:cs typeface="Noto Sans"/>
              </a:rPr>
              <a:t>LOOPLIGHT</a:t>
            </a:r>
          </a:p>
        </p:txBody>
      </p:sp>
      <p:sp>
        <p:nvSpPr>
          <p:cNvPr id="2" name="text-2">
            <a:extLst xmlns:a="http://schemas.openxmlformats.org/drawingml/2006/main">
              <a:ext uri="{FF2B5EF4-FFF2-40B4-BE49-F238E27FC236}">
                <a16:creationId xmlns:a16="http://schemas.microsoft.com/office/drawing/2014/main" id="{1BD995E5-9631-4CFD-A223-45B92F240268}"/>
              </a:ext>
            </a:extLst>
          </p:cNvPr>
          <p:cNvSpPr>
            <a:spLocks xmlns:a="http://schemas.openxmlformats.org/drawingml/2006/main" noGrp="1"/>
          </p:cNvSpPr>
          <p:nvPr/>
        </p:nvSpPr>
        <p:spPr>
          <a:xfrm xmlns:a="http://schemas.openxmlformats.org/drawingml/2006/main">
            <a:off x="647700" y="1885950"/>
            <a:ext cx="10820400" cy="2066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6300" b="1">
                <a:solidFill>
                  <a:srgbClr val="FFFFFF"/>
                </a:solidFill>
                <a:latin typeface="Noto Sans"/>
                <a:ea typeface="Noto Sans"/>
                <a:cs typeface="Noto Sans"/>
              </a:defRPr>
            </a:pPr>
            <a:r>
              <a:rPr sz="6300" b="1">
                <a:solidFill>
                  <a:srgbClr val="FFFFFF"/>
                </a:solidFill>
                <a:latin typeface="Noto Sans"/>
                <a:ea typeface="Noto Sans"/>
                <a:cs typeface="Noto Sans"/>
              </a:rPr>
              <a:t>The next step,</a:t>
            </a:r>
          </a:p>
          <a:p xmlns:a="http://schemas.openxmlformats.org/drawingml/2006/main">
            <a:pPr>
              <a:defRPr sz="6300" b="1">
                <a:solidFill>
                  <a:srgbClr val="FFFFFF"/>
                </a:solidFill>
                <a:latin typeface="Noto Sans"/>
                <a:ea typeface="Noto Sans"/>
                <a:cs typeface="Noto Sans"/>
              </a:defRPr>
            </a:pPr>
            <a:r>
              <a:rPr sz="6300" b="1">
                <a:solidFill>
                  <a:srgbClr val="FFFFFF"/>
                </a:solidFill>
                <a:latin typeface="Noto Sans"/>
                <a:ea typeface="Noto Sans"/>
                <a:cs typeface="Noto Sans"/>
              </a:rPr>
              <a:t>accounted for.</a:t>
            </a:r>
          </a:p>
        </p:txBody>
      </p:sp>
      <p:sp>
        <p:nvSpPr>
          <p:cNvPr id="3" name="text-3">
            <a:extLst xmlns:a="http://schemas.openxmlformats.org/drawingml/2006/main">
              <a:ext uri="{FF2B5EF4-FFF2-40B4-BE49-F238E27FC236}">
                <a16:creationId xmlns:a16="http://schemas.microsoft.com/office/drawing/2014/main" id="{6770EF11-4E43-47CF-9B84-61AC9B3809AD}"/>
              </a:ext>
            </a:extLst>
          </p:cNvPr>
          <p:cNvSpPr>
            <a:spLocks xmlns:a="http://schemas.openxmlformats.org/drawingml/2006/main" noGrp="1"/>
          </p:cNvSpPr>
          <p:nvPr/>
        </p:nvSpPr>
        <p:spPr>
          <a:xfrm xmlns:a="http://schemas.openxmlformats.org/drawingml/2006/main">
            <a:off x="685800" y="4381500"/>
            <a:ext cx="10096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0">
                <a:solidFill>
                  <a:srgbClr val="FFFFFF"/>
                </a:solidFill>
                <a:latin typeface="Noto Sans"/>
                <a:ea typeface="Noto Sans"/>
                <a:cs typeface="Noto Sans"/>
              </a:defRPr>
            </a:pPr>
            <a:r>
              <a:rPr sz="2625" b="0">
                <a:solidFill>
                  <a:srgbClr val="FFFFFF"/>
                </a:solidFill>
                <a:latin typeface="Noto Sans"/>
                <a:ea typeface="Noto Sans"/>
                <a:cs typeface="Noto Sans"/>
              </a:rPr>
              <a:t>A follow-up ledger for the days after discharge.</a:t>
            </a:r>
          </a:p>
        </p:txBody>
      </p:sp>
      <p:sp>
        <p:nvSpPr>
          <p:cNvPr id="4" name="text-4">
            <a:extLst xmlns:a="http://schemas.openxmlformats.org/drawingml/2006/main">
              <a:ext uri="{FF2B5EF4-FFF2-40B4-BE49-F238E27FC236}">
                <a16:creationId xmlns:a16="http://schemas.microsoft.com/office/drawing/2014/main" id="{29927AA3-77B8-4C4D-98CE-12B6533C907E}"/>
              </a:ext>
            </a:extLst>
          </p:cNvPr>
          <p:cNvSpPr>
            <a:spLocks xmlns:a="http://schemas.openxmlformats.org/drawingml/2006/main" noGrp="1"/>
          </p:cNvSpPr>
          <p:nvPr/>
        </p:nvSpPr>
        <p:spPr>
          <a:xfrm xmlns:a="http://schemas.openxmlformats.org/drawingml/2006/main">
            <a:off x="685800" y="5848350"/>
            <a:ext cx="666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FFFFFF"/>
                </a:solidFill>
                <a:latin typeface="Noto Sans"/>
                <a:ea typeface="Noto Sans"/>
                <a:cs typeface="Noto Sans"/>
              </a:defRPr>
            </a:pPr>
            <a:r>
              <a:rPr sz="1725" b="1">
                <a:solidFill>
                  <a:srgbClr val="FFFFFF"/>
                </a:solidFill>
                <a:latin typeface="Noto Sans"/>
                <a:ea typeface="Noto Sans"/>
                <a:cs typeface="Noto Sans"/>
              </a:rPr>
              <a:t>Shivam Gupta</a:t>
            </a:r>
          </a:p>
        </p:txBody>
      </p:sp>
      <p:sp>
        <p:nvSpPr>
          <p:cNvPr id="5" name="text-5">
            <a:extLst xmlns:a="http://schemas.openxmlformats.org/drawingml/2006/main">
              <a:ext uri="{FF2B5EF4-FFF2-40B4-BE49-F238E27FC236}">
                <a16:creationId xmlns:a16="http://schemas.microsoft.com/office/drawing/2014/main" id="{836B671E-E10E-46E5-89E2-099939D36546}"/>
              </a:ext>
            </a:extLst>
          </p:cNvPr>
          <p:cNvSpPr>
            <a:spLocks xmlns:a="http://schemas.openxmlformats.org/drawingml/2006/main" noGrp="1"/>
          </p:cNvSpPr>
          <p:nvPr/>
        </p:nvSpPr>
        <p:spPr>
          <a:xfrm xmlns:a="http://schemas.openxmlformats.org/drawingml/2006/main">
            <a:off x="685800" y="62007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b="0">
                <a:solidFill>
                  <a:srgbClr val="DCE4EF"/>
                </a:solidFill>
                <a:latin typeface="Noto Sans"/>
                <a:ea typeface="Noto Sans"/>
                <a:cs typeface="Noto Sans"/>
              </a:defRPr>
            </a:pPr>
            <a:r>
              <a:rPr sz="1350" b="0">
                <a:solidFill>
                  <a:srgbClr val="DCE4EF"/>
                </a:solidFill>
                <a:latin typeface="Noto Sans"/>
                <a:ea typeface="Noto Sans"/>
                <a:cs typeface="Noto Sans"/>
              </a:rPr>
              <a:t>Founder &amp; builder   /   Built with AI-assisted development</a:t>
            </a:r>
          </a:p>
        </p:txBody>
      </p:sp>
    </p:spTree>
    <p:extLst>
      <p:ext uri="{BB962C8B-B14F-4D97-AF65-F5344CB8AC3E}">
        <p14:creationId xmlns:p14="http://schemas.microsoft.com/office/powerpoint/2010/main" val="66799098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ext-6">
            <a:extLst xmlns:a="http://schemas.openxmlformats.org/drawingml/2006/main">
              <a:ext uri="{FF2B5EF4-FFF2-40B4-BE49-F238E27FC236}">
                <a16:creationId xmlns:a16="http://schemas.microsoft.com/office/drawing/2014/main" id="{A75DA219-B73D-4E26-9D3A-4EF32AB61FE1}"/>
              </a:ext>
            </a:extLst>
          </p:cNvPr>
          <p:cNvSpPr>
            <a:spLocks xmlns:a="http://schemas.openxmlformats.org/drawingml/2006/main" noGrp="1"/>
          </p:cNvSpPr>
          <p:nvPr/>
        </p:nvSpPr>
        <p:spPr>
          <a:xfrm xmlns:a="http://schemas.openxmlformats.org/drawingml/2006/main">
            <a:off x="685800" y="5715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675" b="1">
                <a:solidFill>
                  <a:srgbClr val="102238"/>
                </a:solidFill>
                <a:latin typeface="Noto Sans"/>
                <a:ea typeface="Noto Sans"/>
                <a:cs typeface="Noto Sans"/>
              </a:defRPr>
            </a:pPr>
            <a:r>
              <a:rPr sz="3675" b="1">
                <a:solidFill>
                  <a:srgbClr val="102238"/>
                </a:solidFill>
                <a:latin typeface="Noto Sans"/>
                <a:ea typeface="Noto Sans"/>
                <a:cs typeface="Noto Sans"/>
              </a:rPr>
              <a:t>Care continues after discharge</a:t>
            </a:r>
          </a:p>
        </p:txBody>
      </p:sp>
      <p:sp>
        <p:nvSpPr>
          <p:cNvPr id="2" name="text-7">
            <a:extLst xmlns:a="http://schemas.openxmlformats.org/drawingml/2006/main">
              <a:ext uri="{FF2B5EF4-FFF2-40B4-BE49-F238E27FC236}">
                <a16:creationId xmlns:a16="http://schemas.microsoft.com/office/drawing/2014/main" id="{BB7118A6-3193-41A1-8375-F2E2EE5BB45A}"/>
              </a:ext>
            </a:extLst>
          </p:cNvPr>
          <p:cNvSpPr>
            <a:spLocks xmlns:a="http://schemas.openxmlformats.org/drawingml/2006/main" noGrp="1"/>
          </p:cNvSpPr>
          <p:nvPr/>
        </p:nvSpPr>
        <p:spPr>
          <a:xfrm xmlns:a="http://schemas.openxmlformats.org/drawingml/2006/main">
            <a:off x="685800" y="2209800"/>
            <a:ext cx="56388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1">
                <a:solidFill>
                  <a:srgbClr val="102238"/>
                </a:solidFill>
                <a:latin typeface="Noto Sans"/>
                <a:ea typeface="Noto Sans"/>
                <a:cs typeface="Noto Sans"/>
              </a:defRPr>
            </a:pPr>
            <a:r>
              <a:rPr sz="2925" b="1">
                <a:solidFill>
                  <a:srgbClr val="102238"/>
                </a:solidFill>
                <a:latin typeface="Noto Sans"/>
                <a:ea typeface="Noto Sans"/>
                <a:cs typeface="Noto Sans"/>
              </a:rPr>
              <a:t>Anita is home.</a:t>
            </a:r>
          </a:p>
          <a:p xmlns:a="http://schemas.openxmlformats.org/drawingml/2006/main">
            <a:pPr>
              <a:defRPr sz="2925" b="1">
                <a:solidFill>
                  <a:srgbClr val="102238"/>
                </a:solidFill>
                <a:latin typeface="Noto Sans"/>
                <a:ea typeface="Noto Sans"/>
                <a:cs typeface="Noto Sans"/>
              </a:defRPr>
            </a:pPr>
            <a:r>
              <a:rPr sz="2925" b="1">
                <a:solidFill>
                  <a:srgbClr val="102238"/>
                </a:solidFill>
                <a:latin typeface="Noto Sans"/>
                <a:ea typeface="Noto Sans"/>
                <a:cs typeface="Noto Sans"/>
              </a:rPr>
              <a:t>Maya has the document.</a:t>
            </a:r>
          </a:p>
          <a:p xmlns:a="http://schemas.openxmlformats.org/drawingml/2006/main">
            <a:pPr>
              <a:defRPr sz="2925" b="1">
                <a:solidFill>
                  <a:srgbClr val="102238"/>
                </a:solidFill>
                <a:latin typeface="Noto Sans"/>
                <a:ea typeface="Noto Sans"/>
                <a:cs typeface="Noto Sans"/>
              </a:defRPr>
            </a:pPr>
            <a:r>
              <a:rPr sz="2925" b="1">
                <a:solidFill>
                  <a:srgbClr val="102238"/>
                </a:solidFill>
                <a:latin typeface="Noto Sans"/>
                <a:ea typeface="Noto Sans"/>
                <a:cs typeface="Noto Sans"/>
              </a:rPr>
              <a:t>A result is still pending.</a:t>
            </a:r>
          </a:p>
        </p:txBody>
      </p:sp>
      <p:sp>
        <p:nvSpPr>
          <p:cNvPr id="3" name="text-8">
            <a:extLst xmlns:a="http://schemas.openxmlformats.org/drawingml/2006/main">
              <a:ext uri="{FF2B5EF4-FFF2-40B4-BE49-F238E27FC236}">
                <a16:creationId xmlns:a16="http://schemas.microsoft.com/office/drawing/2014/main" id="{4367215A-F646-4A6B-BE3A-42AA7AD09A53}"/>
              </a:ext>
            </a:extLst>
          </p:cNvPr>
          <p:cNvSpPr>
            <a:spLocks xmlns:a="http://schemas.openxmlformats.org/drawingml/2006/main" noGrp="1"/>
          </p:cNvSpPr>
          <p:nvPr/>
        </p:nvSpPr>
        <p:spPr>
          <a:xfrm xmlns:a="http://schemas.openxmlformats.org/drawingml/2006/main">
            <a:off x="685800" y="4676775"/>
            <a:ext cx="5286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5A687C"/>
                </a:solidFill>
                <a:latin typeface="Noto Sans"/>
                <a:ea typeface="Noto Sans"/>
                <a:cs typeface="Noto Sans"/>
              </a:defRPr>
            </a:pPr>
            <a:r>
              <a:rPr sz="1950" b="0">
                <a:solidFill>
                  <a:srgbClr val="5A687C"/>
                </a:solidFill>
                <a:latin typeface="Noto Sans"/>
                <a:ea typeface="Noto Sans"/>
                <a:cs typeface="Noto Sans"/>
              </a:rPr>
              <a:t>Fictional family.</a:t>
            </a:r>
          </a:p>
          <a:p xmlns:a="http://schemas.openxmlformats.org/drawingml/2006/main">
            <a:pPr>
              <a:defRPr sz="1950" b="0">
                <a:solidFill>
                  <a:srgbClr val="5A687C"/>
                </a:solidFill>
                <a:latin typeface="Noto Sans"/>
                <a:ea typeface="Noto Sans"/>
                <a:cs typeface="Noto Sans"/>
              </a:defRPr>
            </a:pPr>
            <a:r>
              <a:rPr sz="1950" b="0">
                <a:solidFill>
                  <a:srgbClr val="5A687C"/>
                </a:solidFill>
                <a:latin typeface="Noto Sans"/>
                <a:ea typeface="Noto Sans"/>
                <a:cs typeface="Noto Sans"/>
              </a:rPr>
              <a:t>A real coordination problem.</a:t>
            </a:r>
          </a:p>
        </p:txBody>
      </p:sp>
      <p:sp>
        <p:nvSpPr>
          <p:cNvPr id="4" name="text-9">
            <a:extLst xmlns:a="http://schemas.openxmlformats.org/drawingml/2006/main">
              <a:ext uri="{FF2B5EF4-FFF2-40B4-BE49-F238E27FC236}">
                <a16:creationId xmlns:a16="http://schemas.microsoft.com/office/drawing/2014/main" id="{CE538B3B-D9E1-4E61-B6CE-DBAE348908BA}"/>
              </a:ext>
            </a:extLst>
          </p:cNvPr>
          <p:cNvSpPr>
            <a:spLocks xmlns:a="http://schemas.openxmlformats.org/drawingml/2006/main" noGrp="1"/>
          </p:cNvSpPr>
          <p:nvPr/>
        </p:nvSpPr>
        <p:spPr>
          <a:xfrm xmlns:a="http://schemas.openxmlformats.org/drawingml/2006/main">
            <a:off x="7239000" y="1933575"/>
            <a:ext cx="4191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8325" b="1">
                <a:solidFill>
                  <a:srgbClr val="315BDB"/>
                </a:solidFill>
                <a:latin typeface="Noto Sans"/>
                <a:ea typeface="Noto Sans"/>
                <a:cs typeface="Noto Sans"/>
              </a:defRPr>
            </a:pPr>
            <a:r>
              <a:rPr sz="8325" b="1">
                <a:solidFill>
                  <a:srgbClr val="315BDB"/>
                </a:solidFill>
                <a:latin typeface="Noto Sans"/>
                <a:ea typeface="Noto Sans"/>
                <a:cs typeface="Noto Sans"/>
              </a:rPr>
              <a:t>41%</a:t>
            </a:r>
          </a:p>
        </p:txBody>
      </p:sp>
      <p:sp>
        <p:nvSpPr>
          <p:cNvPr id="5" name="text-10">
            <a:extLst xmlns:a="http://schemas.openxmlformats.org/drawingml/2006/main">
              <a:ext uri="{FF2B5EF4-FFF2-40B4-BE49-F238E27FC236}">
                <a16:creationId xmlns:a16="http://schemas.microsoft.com/office/drawing/2014/main" id="{051F2388-BC4C-4008-8F52-756560DB860E}"/>
              </a:ext>
            </a:extLst>
          </p:cNvPr>
          <p:cNvSpPr>
            <a:spLocks xmlns:a="http://schemas.openxmlformats.org/drawingml/2006/main" noGrp="1"/>
          </p:cNvSpPr>
          <p:nvPr/>
        </p:nvSpPr>
        <p:spPr>
          <a:xfrm xmlns:a="http://schemas.openxmlformats.org/drawingml/2006/main">
            <a:off x="7277100" y="3324225"/>
            <a:ext cx="409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02238"/>
                </a:solidFill>
                <a:latin typeface="Noto Sans"/>
                <a:ea typeface="Noto Sans"/>
                <a:cs typeface="Noto Sans"/>
              </a:defRPr>
            </a:pPr>
            <a:r>
              <a:rPr sz="2325" b="1">
                <a:solidFill>
                  <a:srgbClr val="102238"/>
                </a:solidFill>
                <a:latin typeface="Noto Sans"/>
                <a:ea typeface="Noto Sans"/>
                <a:cs typeface="Noto Sans"/>
              </a:rPr>
              <a:t>had results return</a:t>
            </a:r>
          </a:p>
          <a:p xmlns:a="http://schemas.openxmlformats.org/drawingml/2006/main">
            <a:pPr>
              <a:defRPr sz="2325" b="1">
                <a:solidFill>
                  <a:srgbClr val="102238"/>
                </a:solidFill>
                <a:latin typeface="Noto Sans"/>
                <a:ea typeface="Noto Sans"/>
                <a:cs typeface="Noto Sans"/>
              </a:defRPr>
            </a:pPr>
            <a:r>
              <a:rPr sz="2325" b="1">
                <a:solidFill>
                  <a:srgbClr val="102238"/>
                </a:solidFill>
                <a:latin typeface="Noto Sans"/>
                <a:ea typeface="Noto Sans"/>
                <a:cs typeface="Noto Sans"/>
              </a:rPr>
              <a:t>after discharge</a:t>
            </a:r>
          </a:p>
        </p:txBody>
      </p:sp>
      <p:sp>
        <p:nvSpPr>
          <p:cNvPr id="6" name="text-11">
            <a:extLst xmlns:a="http://schemas.openxmlformats.org/drawingml/2006/main">
              <a:ext uri="{FF2B5EF4-FFF2-40B4-BE49-F238E27FC236}">
                <a16:creationId xmlns:a16="http://schemas.microsoft.com/office/drawing/2014/main" id="{CB87D652-E5D3-4C2A-AD1E-90B81E0306EC}"/>
              </a:ext>
            </a:extLst>
          </p:cNvPr>
          <p:cNvSpPr>
            <a:spLocks xmlns:a="http://schemas.openxmlformats.org/drawingml/2006/main" noGrp="1"/>
          </p:cNvSpPr>
          <p:nvPr/>
        </p:nvSpPr>
        <p:spPr>
          <a:xfrm xmlns:a="http://schemas.openxmlformats.org/drawingml/2006/main">
            <a:off x="7277100" y="4448175"/>
            <a:ext cx="4095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5A687C"/>
                </a:solidFill>
                <a:latin typeface="Noto Sans"/>
                <a:ea typeface="Noto Sans"/>
                <a:cs typeface="Noto Sans"/>
              </a:defRPr>
            </a:pPr>
            <a:r>
              <a:rPr sz="1650" b="0">
                <a:solidFill>
                  <a:srgbClr val="5A687C"/>
                </a:solidFill>
                <a:latin typeface="Noto Sans"/>
                <a:ea typeface="Noto Sans"/>
                <a:cs typeface="Noto Sans"/>
              </a:rPr>
              <a:t>2005 study of 2,644 discharges</a:t>
            </a:r>
          </a:p>
          <a:p xmlns:a="http://schemas.openxmlformats.org/drawingml/2006/main">
            <a:pPr>
              <a:defRPr sz="1650" b="0">
                <a:solidFill>
                  <a:srgbClr val="5A687C"/>
                </a:solidFill>
                <a:latin typeface="Noto Sans"/>
                <a:ea typeface="Noto Sans"/>
                <a:cs typeface="Noto Sans"/>
              </a:defRPr>
            </a:pPr>
            <a:r>
              <a:rPr sz="1650" b="0">
                <a:solidFill>
                  <a:srgbClr val="5A687C"/>
                </a:solidFill>
                <a:latin typeface="Noto Sans"/>
                <a:ea typeface="Noto Sans"/>
                <a:cs typeface="Noto Sans"/>
              </a:rPr>
              <a:t>at two academic hospitals.</a:t>
            </a:r>
          </a:p>
          <a:p xmlns:a="http://schemas.openxmlformats.org/drawingml/2006/main">
            <a:pPr>
              <a:defRPr sz="1650" b="0">
                <a:solidFill>
                  <a:srgbClr val="5A687C"/>
                </a:solidFill>
                <a:latin typeface="Noto Sans"/>
                <a:ea typeface="Noto Sans"/>
                <a:cs typeface="Noto Sans"/>
              </a:defRPr>
            </a:pPr>
            <a:r>
              <a:rPr sz="1650" b="0">
                <a:solidFill>
                  <a:srgbClr val="5A687C"/>
                </a:solidFill>
                <a:latin typeface="Noto Sans"/>
                <a:ea typeface="Noto Sans"/>
                <a:cs typeface="Noto Sans"/>
              </a:rPr>
              <a:t>A historical finding, not a current</a:t>
            </a:r>
          </a:p>
          <a:p xmlns:a="http://schemas.openxmlformats.org/drawingml/2006/main">
            <a:pPr>
              <a:defRPr sz="1650" b="0">
                <a:solidFill>
                  <a:srgbClr val="5A687C"/>
                </a:solidFill>
                <a:latin typeface="Noto Sans"/>
                <a:ea typeface="Noto Sans"/>
                <a:cs typeface="Noto Sans"/>
              </a:defRPr>
            </a:pPr>
            <a:r>
              <a:rPr sz="1650" b="0">
                <a:solidFill>
                  <a:srgbClr val="5A687C"/>
                </a:solidFill>
                <a:latin typeface="Noto Sans"/>
                <a:ea typeface="Noto Sans"/>
                <a:cs typeface="Noto Sans"/>
              </a:rPr>
              <a:t>global prevalence estimate.</a:t>
            </a:r>
          </a:p>
        </p:txBody>
      </p:sp>
      <p:sp>
        <p:nvSpPr>
          <p:cNvPr id="7" name="text-12">
            <a:extLst xmlns:a="http://schemas.openxmlformats.org/drawingml/2006/main">
              <a:ext uri="{FF2B5EF4-FFF2-40B4-BE49-F238E27FC236}">
                <a16:creationId xmlns:a16="http://schemas.microsoft.com/office/drawing/2014/main" id="{AAF9B67A-8EF5-46B9-88E2-57D94A05B10B}"/>
              </a:ext>
            </a:extLst>
          </p:cNvPr>
          <p:cNvSpPr>
            <a:spLocks xmlns:a="http://schemas.openxmlformats.org/drawingml/2006/main" noGrp="1"/>
          </p:cNvSpPr>
          <p:nvPr/>
        </p:nvSpPr>
        <p:spPr>
          <a:xfrm xmlns:a="http://schemas.openxmlformats.org/drawingml/2006/main">
            <a:off x="685800" y="63436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A687C"/>
                </a:solidFill>
                <a:latin typeface="Noto Sans"/>
                <a:ea typeface="Noto Sans"/>
                <a:cs typeface="Noto Sans"/>
              </a:defRPr>
            </a:pPr>
            <a:r>
              <a:rPr sz="1275" b="0">
                <a:solidFill>
                  <a:srgbClr val="5A687C"/>
                </a:solidFill>
                <a:latin typeface="Noto Sans"/>
                <a:ea typeface="Noto Sans"/>
                <a:cs typeface="Noto Sans"/>
              </a:rPr>
              <a:t>Looplight  /  02</a:t>
            </a:r>
          </a:p>
        </p:txBody>
      </p:sp>
    </p:spTree>
    <p:extLst>
      <p:ext uri="{BB962C8B-B14F-4D97-AF65-F5344CB8AC3E}">
        <p14:creationId xmlns:p14="http://schemas.microsoft.com/office/powerpoint/2010/main" val="121121548"/>
      </p:ext>
    </p:extLst>
  </p:cSld>
</p:sld>
</file>

<file path=ppt/slides/slide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8" name="text-13">
            <a:extLst>
              <a:ext uri="{FF2B5EF4-FFF2-40B4-BE49-F238E27FC236}">
                <ns2:creationId id="{25399E84-57C7-4C59-B8E6-93C424517E02}"/>
              </a:ext>
            </a:extLst>
          </p:cNvPr>
          <p:cNvSpPr>
            <a:spLocks noGrp="1"/>
          </p:cNvSpPr>
          <p:nvPr/>
        </p:nvSpPr>
        <p:spPr>
          <a:xfrm>
            <a:off x="685800" y="571500"/>
            <a:ext cx="10820400" cy="1104900"/>
          </a:xfrm>
          <a:prstGeom prst="rect">
            <a:avLst/>
          </a:prstGeom>
          <a:noFill/>
          <a:ln w="0">
            <a:noFill/>
          </a:ln>
        </p:spPr>
        <p:txBody>
          <a:bodyPr wrap="square" lIns="0" tIns="0" rIns="0" bIns="0" anchor="t">
            <a:noAutofit/>
          </a:bodyPr>
          <a:lstStyle/>
          <a:p>
            <a:pPr>
              <a:defRPr sz="3675" b="1">
                <a:solidFill>
                  <a:srgbClr val="102238"/>
                </a:solidFill>
                <a:latin typeface="Noto Sans"/>
                <a:ea typeface="Noto Sans"/>
                <a:cs typeface="Noto Sans"/>
              </a:defRPr>
            </a:pPr>
            <a:r>
              <a:rPr sz="3675" b="1">
                <a:solidFill>
                  <a:srgbClr val="102238"/>
                </a:solidFill>
                <a:latin typeface="Noto Sans"/>
                <a:ea typeface="Noto Sans"/>
                <a:cs typeface="Noto Sans"/>
              </a:rPr>
              <a:t>A plan with the source still attached</a:t>
            </a:r>
          </a:p>
        </p:txBody>
      </p:sp>
      <p:pic>
        <p:nvPicPr>
          <p:cNvPr id="9" name=""/>
          <p:cNvPicPr>
            <a:picLocks noChangeAspect="1"/>
          </p:cNvPicPr>
          <p:nvPr/>
        </p:nvPicPr>
        <p:blipFill>
          <a:blip r:embed="Re7e76ced89754214"/>
          <a:srcRect l="0" t="0" r="50000" b="56000"/>
          <a:stretch>
            <a:fillRect l="0" t="0" r="0" b="0"/>
          </a:stretch>
        </p:blipFill>
        <p:spPr>
          <a:xfrm>
            <a:off x="685800" y="1581150"/>
            <a:ext cx="5962650" cy="4762500"/>
          </a:xfrm>
          <a:prstGeom prst="rect">
            <a:avLst/>
          </a:prstGeom>
        </p:spPr>
      </p:pic>
      <p:sp>
        <p:nvSpPr>
          <p:cNvPr id="3" name="text-14">
            <a:extLst>
              <a:ext uri="{FF2B5EF4-FFF2-40B4-BE49-F238E27FC236}">
                <ns2:creationId id="{904EA342-B770-4475-8CF7-49CB2B883867}"/>
              </a:ext>
            </a:extLst>
          </p:cNvPr>
          <p:cNvSpPr>
            <a:spLocks noGrp="1"/>
          </p:cNvSpPr>
          <p:nvPr/>
        </p:nvSpPr>
        <p:spPr>
          <a:xfrm>
            <a:off x="7286625" y="1981200"/>
            <a:ext cx="4191000" cy="809625"/>
          </a:xfrm>
          <a:prstGeom prst="rect">
            <a:avLst/>
          </a:prstGeom>
          <a:noFill/>
          <a:ln w="0">
            <a:noFill/>
          </a:ln>
        </p:spPr>
        <p:txBody>
          <a:bodyPr wrap="square" lIns="0" tIns="0" rIns="0" bIns="0" anchor="t">
            <a:noAutofit/>
          </a:bodyPr>
          <a:lstStyle/>
          <a:p>
            <a:pPr>
              <a:defRPr sz="2175" b="1">
                <a:solidFill>
                  <a:srgbClr val="102238"/>
                </a:solidFill>
                <a:latin typeface="Noto Sans"/>
                <a:ea typeface="Noto Sans"/>
                <a:cs typeface="Noto Sans"/>
              </a:defRPr>
            </a:pPr>
            <a:r>
              <a:rPr sz="2175" b="1">
                <a:solidFill>
                  <a:srgbClr val="102238"/>
                </a:solidFill>
                <a:latin typeface="Noto Sans"/>
                <a:ea typeface="Noto Sans"/>
                <a:cs typeface="Noto Sans"/>
              </a:rPr>
              <a:t>Each task keeps its source</a:t>
            </a:r>
          </a:p>
        </p:txBody>
      </p:sp>
      <p:sp>
        <p:nvSpPr>
          <p:cNvPr id="4" name="text-15">
            <a:extLst>
              <a:ext uri="{FF2B5EF4-FFF2-40B4-BE49-F238E27FC236}">
                <ns2:creationId id="{F179CBB7-BE3B-4308-A6BE-D09A02FE5F16}"/>
              </a:ext>
            </a:extLst>
          </p:cNvPr>
          <p:cNvSpPr>
            <a:spLocks noGrp="1"/>
          </p:cNvSpPr>
          <p:nvPr/>
        </p:nvSpPr>
        <p:spPr>
          <a:xfrm>
            <a:off x="7286625" y="2914650"/>
            <a:ext cx="4191000" cy="1009650"/>
          </a:xfrm>
          <a:prstGeom prst="rect">
            <a:avLst/>
          </a:prstGeom>
          <a:noFill/>
          <a:ln w="0">
            <a:noFill/>
          </a:ln>
        </p:spPr>
        <p:txBody>
          <a:bodyPr wrap="square" lIns="0" tIns="0" rIns="0" bIns="0" anchor="t">
            <a:noAutofit/>
          </a:bodyPr>
          <a:lstStyle/>
          <a:p>
            <a:pPr>
              <a:defRPr sz="1875" b="0">
                <a:solidFill>
                  <a:srgbClr val="5A687C"/>
                </a:solidFill>
                <a:latin typeface="Noto Sans"/>
                <a:ea typeface="Noto Sans"/>
                <a:cs typeface="Noto Sans"/>
              </a:defRPr>
            </a:pPr>
            <a:r>
              <a:rPr sz="1875" b="0">
                <a:solidFill>
                  <a:srgbClr val="5A687C"/>
                </a:solidFill>
                <a:latin typeface="Noto Sans"/>
                <a:ea typeface="Noto Sans"/>
                <a:cs typeface="Noto Sans"/>
              </a:rPr>
              <a:t>Open the supporting sentence and review the original wording.</a:t>
            </a:r>
          </a:p>
        </p:txBody>
      </p:sp>
      <p:sp>
        <p:nvSpPr>
          <p:cNvPr id="5" name="text-16">
            <a:extLst>
              <a:ext uri="{FF2B5EF4-FFF2-40B4-BE49-F238E27FC236}">
                <ns2:creationId id="{F09D14E0-C4FC-4415-89AA-85FAF5B06456}"/>
              </a:ext>
            </a:extLst>
          </p:cNvPr>
          <p:cNvSpPr>
            <a:spLocks noGrp="1"/>
          </p:cNvSpPr>
          <p:nvPr/>
        </p:nvSpPr>
        <p:spPr>
          <a:xfrm>
            <a:off x="7286625" y="4286250"/>
            <a:ext cx="4191000" cy="809625"/>
          </a:xfrm>
          <a:prstGeom prst="rect">
            <a:avLst/>
          </a:prstGeom>
          <a:noFill/>
          <a:ln w="0">
            <a:noFill/>
          </a:ln>
        </p:spPr>
        <p:txBody>
          <a:bodyPr wrap="square" lIns="0" tIns="0" rIns="0" bIns="0" anchor="t">
            <a:noAutofit/>
          </a:bodyPr>
          <a:lstStyle/>
          <a:p>
            <a:pPr>
              <a:defRPr sz="2175" b="1">
                <a:solidFill>
                  <a:srgbClr val="102238"/>
                </a:solidFill>
                <a:latin typeface="Noto Sans"/>
                <a:ea typeface="Noto Sans"/>
                <a:cs typeface="Noto Sans"/>
              </a:defRPr>
            </a:pPr>
            <a:r>
              <a:rPr sz="2175" b="1">
                <a:solidFill>
                  <a:srgbClr val="102238"/>
                </a:solidFill>
                <a:latin typeface="Noto Sans"/>
                <a:ea typeface="Noto Sans"/>
                <a:cs typeface="Noto Sans"/>
              </a:rPr>
              <a:t>A person tracks the next step</a:t>
            </a:r>
          </a:p>
        </p:txBody>
      </p:sp>
      <p:sp>
        <p:nvSpPr>
          <p:cNvPr id="6" name="text-17">
            <a:extLst>
              <a:ext uri="{FF2B5EF4-FFF2-40B4-BE49-F238E27FC236}">
                <ns2:creationId id="{65BED9EC-B654-4579-B616-D07C9839EC1F}"/>
              </a:ext>
            </a:extLst>
          </p:cNvPr>
          <p:cNvSpPr>
            <a:spLocks noGrp="1"/>
          </p:cNvSpPr>
          <p:nvPr/>
        </p:nvSpPr>
        <p:spPr>
          <a:xfrm>
            <a:off x="7286625" y="5219700"/>
            <a:ext cx="4191000" cy="762000"/>
          </a:xfrm>
          <a:prstGeom prst="rect">
            <a:avLst/>
          </a:prstGeom>
          <a:noFill/>
          <a:ln w="0">
            <a:noFill/>
          </a:ln>
        </p:spPr>
        <p:txBody>
          <a:bodyPr wrap="square" lIns="0" tIns="0" rIns="0" bIns="0" anchor="t">
            <a:noAutofit/>
          </a:bodyPr>
          <a:lstStyle/>
          <a:p>
            <a:pPr>
              <a:defRPr sz="1875" b="0">
                <a:solidFill>
                  <a:srgbClr val="5A687C"/>
                </a:solidFill>
                <a:latin typeface="Noto Sans"/>
                <a:ea typeface="Noto Sans"/>
                <a:cs typeface="Noto Sans"/>
              </a:defRPr>
            </a:pPr>
            <a:r>
              <a:rPr sz="1875" b="0">
                <a:solidFill>
                  <a:srgbClr val="5A687C"/>
                </a:solidFill>
                <a:latin typeface="Noto Sans"/>
                <a:ea typeface="Noto Sans"/>
                <a:cs typeface="Noto Sans"/>
              </a:rPr>
              <a:t>Confirm the details before following through.</a:t>
            </a:r>
          </a:p>
        </p:txBody>
      </p:sp>
      <p:sp>
        <p:nvSpPr>
          <p:cNvPr id="7" name="text-18">
            <a:extLst>
              <a:ext uri="{FF2B5EF4-FFF2-40B4-BE49-F238E27FC236}">
                <ns2:creationId id="{12AA87A8-E54E-4350-93AB-767971274DBA}"/>
              </a:ext>
            </a:extLst>
          </p:cNvPr>
          <p:cNvSpPr>
            <a:spLocks noGrp="1"/>
          </p:cNvSpPr>
          <p:nvPr/>
        </p:nvSpPr>
        <p:spPr>
          <a:xfrm>
            <a:off x="7286625" y="6096000"/>
            <a:ext cx="4191000" cy="285750"/>
          </a:xfrm>
          <a:prstGeom prst="rect">
            <a:avLst/>
          </a:prstGeom>
          <a:noFill/>
          <a:ln w="0">
            <a:noFill/>
          </a:ln>
        </p:spPr>
        <p:txBody>
          <a:bodyPr wrap="square" lIns="0" tIns="0" rIns="0" bIns="0" anchor="t">
            <a:noAutofit/>
          </a:bodyPr>
          <a:lstStyle/>
          <a:p>
            <a:pPr>
              <a:defRPr sz="1350" b="0">
                <a:solidFill>
                  <a:srgbClr val="5A687C"/>
                </a:solidFill>
                <a:latin typeface="Noto Sans"/>
                <a:ea typeface="Noto Sans"/>
                <a:cs typeface="Noto Sans"/>
              </a:defRPr>
            </a:pPr>
            <a:r>
              <a:rPr sz="1350" b="0">
                <a:solidFill>
                  <a:srgbClr val="5A687C"/>
                </a:solidFill>
                <a:latin typeface="Noto Sans"/>
                <a:ea typeface="Noto Sans"/>
                <a:cs typeface="Noto Sans"/>
              </a:rPr>
              <a:t>Actual app. Fictional data.</a:t>
            </a:r>
          </a:p>
        </p:txBody>
      </p:sp>
    </p:spTree>
    <p:extLst>
      <p:ext uri="{BB962C8B-B14F-4D97-AF65-F5344CB8AC3E}">
        <ns4:creationId val="1507477233"/>
      </p:ext>
    </p:extLst>
  </p:cSld>
</p:sld>
</file>

<file path=ppt/slides/slide4.xml><?xml version="1.0" encoding="utf-8"?>
<p:sld xmlns:p="http://schemas.openxmlformats.org/presentationml/2006/main">
  <p:cSld>
    <p:bg>
      <p:bgPr>
        <a:solidFill xmlns:a="http://schemas.openxmlformats.org/drawingml/2006/main">
          <a:srgbClr val="102238"/>
        </a:solidFill>
      </p:bgPr>
    </p:bg>
    <p:spTree>
      <p:nvGrpSpPr>
        <p:cNvPr id="1" name=""/>
        <p:cNvGrpSpPr/>
        <p:nvPr/>
      </p:nvGrpSpPr>
      <p:grpSpPr>
        <a:xfrm xmlns:a="http://schemas.openxmlformats.org/drawingml/2006/main"/>
      </p:grpSpPr>
      <p:sp>
        <p:nvSpPr>
          <p:cNvPr id="10" name="text-19">
            <a:extLst xmlns:a="http://schemas.openxmlformats.org/drawingml/2006/main">
              <a:ext uri="{FF2B5EF4-FFF2-40B4-BE49-F238E27FC236}">
                <a16:creationId xmlns:a16="http://schemas.microsoft.com/office/drawing/2014/main" id="{9E22FBCD-DAC4-4230-A563-EBCF3F3B6E01}"/>
              </a:ext>
            </a:extLst>
          </p:cNvPr>
          <p:cNvSpPr>
            <a:spLocks xmlns:a="http://schemas.openxmlformats.org/drawingml/2006/main" noGrp="1"/>
          </p:cNvSpPr>
          <p:nvPr/>
        </p:nvSpPr>
        <p:spPr>
          <a:xfrm xmlns:a="http://schemas.openxmlformats.org/drawingml/2006/main">
            <a:off x="685800" y="5715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675" b="1">
                <a:solidFill>
                  <a:srgbClr val="FFFFFF"/>
                </a:solidFill>
                <a:latin typeface="Noto Sans"/>
                <a:ea typeface="Noto Sans"/>
                <a:cs typeface="Noto Sans"/>
              </a:defRPr>
            </a:pPr>
            <a:r>
              <a:rPr sz="3675" b="1">
                <a:solidFill>
                  <a:srgbClr val="FFFFFF"/>
                </a:solidFill>
                <a:latin typeface="Noto Sans"/>
                <a:ea typeface="Noto Sans"/>
                <a:cs typeface="Noto Sans"/>
              </a:rPr>
              <a:t>A result can arrive</a:t>
            </a:r>
          </a:p>
          <a:p xmlns:a="http://schemas.openxmlformats.org/drawingml/2006/main">
            <a:pPr>
              <a:defRPr sz="3675" b="1">
                <a:solidFill>
                  <a:srgbClr val="FFFFFF"/>
                </a:solidFill>
                <a:latin typeface="Noto Sans"/>
                <a:ea typeface="Noto Sans"/>
                <a:cs typeface="Noto Sans"/>
              </a:defRPr>
            </a:pPr>
            <a:r>
              <a:rPr sz="3675" b="1">
                <a:solidFill>
                  <a:srgbClr val="FFFFFF"/>
                </a:solidFill>
                <a:latin typeface="Noto Sans"/>
                <a:ea typeface="Noto Sans"/>
                <a:cs typeface="Noto Sans"/>
              </a:rPr>
              <a:t>before anyone reviews it</a:t>
            </a:r>
          </a:p>
        </p:txBody>
      </p:sp>
      <p:sp>
        <p:nvSpPr>
          <p:cNvPr id="2" name="text-20">
            <a:extLst xmlns:a="http://schemas.openxmlformats.org/drawingml/2006/main">
              <a:ext uri="{FF2B5EF4-FFF2-40B4-BE49-F238E27FC236}">
                <a16:creationId xmlns:a16="http://schemas.microsoft.com/office/drawing/2014/main" id="{54F2E2F1-F57F-4F30-9DA6-14F0EF417F0E}"/>
              </a:ext>
            </a:extLst>
          </p:cNvPr>
          <p:cNvSpPr>
            <a:spLocks xmlns:a="http://schemas.openxmlformats.org/drawingml/2006/main" noGrp="1"/>
          </p:cNvSpPr>
          <p:nvPr/>
        </p:nvSpPr>
        <p:spPr>
          <a:xfrm xmlns:a="http://schemas.openxmlformats.org/drawingml/2006/main">
            <a:off x="685800" y="22288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C7F578"/>
                </a:solidFill>
                <a:latin typeface="Noto Sans"/>
                <a:ea typeface="Noto Sans"/>
                <a:cs typeface="Noto Sans"/>
              </a:defRPr>
            </a:pPr>
            <a:r>
              <a:rPr sz="1575" b="1">
                <a:solidFill>
                  <a:srgbClr val="C7F578"/>
                </a:solidFill>
                <a:latin typeface="Noto Sans"/>
                <a:ea typeface="Noto Sans"/>
                <a:cs typeface="Noto Sans"/>
              </a:rPr>
              <a:t>01   RESULT RECEIVED</a:t>
            </a:r>
          </a:p>
        </p:txBody>
      </p:sp>
      <p:sp>
        <p:nvSpPr>
          <p:cNvPr id="3" name="text-21">
            <a:extLst xmlns:a="http://schemas.openxmlformats.org/drawingml/2006/main">
              <a:ext uri="{FF2B5EF4-FFF2-40B4-BE49-F238E27FC236}">
                <a16:creationId xmlns:a16="http://schemas.microsoft.com/office/drawing/2014/main" id="{39066912-FE0F-4484-B06F-ED3A97697E4B}"/>
              </a:ext>
            </a:extLst>
          </p:cNvPr>
          <p:cNvSpPr>
            <a:spLocks xmlns:a="http://schemas.openxmlformats.org/drawingml/2006/main" noGrp="1"/>
          </p:cNvSpPr>
          <p:nvPr/>
        </p:nvSpPr>
        <p:spPr>
          <a:xfrm xmlns:a="http://schemas.openxmlformats.org/drawingml/2006/main">
            <a:off x="685800" y="262890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FFFFFF"/>
                </a:solidFill>
                <a:latin typeface="Noto Sans"/>
                <a:ea typeface="Noto Sans"/>
                <a:cs typeface="Noto Sans"/>
              </a:defRPr>
            </a:pPr>
            <a:r>
              <a:rPr sz="2550" b="0">
                <a:solidFill>
                  <a:srgbClr val="FFFFFF"/>
                </a:solidFill>
                <a:latin typeface="Noto Sans"/>
                <a:ea typeface="Noto Sans"/>
                <a:cs typeface="Noto Sans"/>
              </a:rPr>
              <a:t>The family has the result.</a:t>
            </a:r>
          </a:p>
        </p:txBody>
      </p:sp>
      <p:sp>
        <p:nvSpPr>
          <p:cNvPr id="4" name="text-22">
            <a:extLst xmlns:a="http://schemas.openxmlformats.org/drawingml/2006/main">
              <a:ext uri="{FF2B5EF4-FFF2-40B4-BE49-F238E27FC236}">
                <a16:creationId xmlns:a16="http://schemas.microsoft.com/office/drawing/2014/main" id="{EA99C30B-8E72-42BA-B0D5-7896F100CEBB}"/>
              </a:ext>
            </a:extLst>
          </p:cNvPr>
          <p:cNvSpPr>
            <a:spLocks xmlns:a="http://schemas.openxmlformats.org/drawingml/2006/main" noGrp="1"/>
          </p:cNvSpPr>
          <p:nvPr/>
        </p:nvSpPr>
        <p:spPr>
          <a:xfrm xmlns:a="http://schemas.openxmlformats.org/drawingml/2006/main">
            <a:off x="685800" y="331470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C7F578"/>
                </a:solidFill>
                <a:latin typeface="Noto Sans"/>
                <a:ea typeface="Noto Sans"/>
                <a:cs typeface="Noto Sans"/>
              </a:defRPr>
            </a:pPr>
            <a:r>
              <a:rPr sz="1575" b="1">
                <a:solidFill>
                  <a:srgbClr val="C7F578"/>
                </a:solidFill>
                <a:latin typeface="Noto Sans"/>
                <a:ea typeface="Noto Sans"/>
                <a:cs typeface="Noto Sans"/>
              </a:rPr>
              <a:t>02   CLINICIAN REVIEW REPORTED</a:t>
            </a:r>
          </a:p>
        </p:txBody>
      </p:sp>
      <p:sp>
        <p:nvSpPr>
          <p:cNvPr id="5" name="text-23">
            <a:extLst xmlns:a="http://schemas.openxmlformats.org/drawingml/2006/main">
              <a:ext uri="{FF2B5EF4-FFF2-40B4-BE49-F238E27FC236}">
                <a16:creationId xmlns:a16="http://schemas.microsoft.com/office/drawing/2014/main" id="{0DE6E9DD-AA3B-4BCB-86DB-A58E54B313BC}"/>
              </a:ext>
            </a:extLst>
          </p:cNvPr>
          <p:cNvSpPr>
            <a:spLocks xmlns:a="http://schemas.openxmlformats.org/drawingml/2006/main" noGrp="1"/>
          </p:cNvSpPr>
          <p:nvPr/>
        </p:nvSpPr>
        <p:spPr>
          <a:xfrm xmlns:a="http://schemas.openxmlformats.org/drawingml/2006/main">
            <a:off x="685800" y="371475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FFFFFF"/>
                </a:solidFill>
                <a:latin typeface="Noto Sans"/>
                <a:ea typeface="Noto Sans"/>
                <a:cs typeface="Noto Sans"/>
              </a:defRPr>
            </a:pPr>
            <a:r>
              <a:rPr sz="2550" b="0">
                <a:solidFill>
                  <a:srgbClr val="FFFFFF"/>
                </a:solidFill>
                <a:latin typeface="Noto Sans"/>
                <a:ea typeface="Noto Sans"/>
                <a:cs typeface="Noto Sans"/>
              </a:rPr>
              <a:t>A user records who reviewed it.</a:t>
            </a:r>
          </a:p>
        </p:txBody>
      </p:sp>
      <p:sp>
        <p:nvSpPr>
          <p:cNvPr id="6" name="text-24">
            <a:extLst xmlns:a="http://schemas.openxmlformats.org/drawingml/2006/main">
              <a:ext uri="{FF2B5EF4-FFF2-40B4-BE49-F238E27FC236}">
                <a16:creationId xmlns:a16="http://schemas.microsoft.com/office/drawing/2014/main" id="{EC6F2B81-1817-447D-B6CF-C2AC9F173210}"/>
              </a:ext>
            </a:extLst>
          </p:cNvPr>
          <p:cNvSpPr>
            <a:spLocks xmlns:a="http://schemas.openxmlformats.org/drawingml/2006/main" noGrp="1"/>
          </p:cNvSpPr>
          <p:nvPr/>
        </p:nvSpPr>
        <p:spPr>
          <a:xfrm xmlns:a="http://schemas.openxmlformats.org/drawingml/2006/main">
            <a:off x="685800" y="4400550"/>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C7F578"/>
                </a:solidFill>
                <a:latin typeface="Noto Sans"/>
                <a:ea typeface="Noto Sans"/>
                <a:cs typeface="Noto Sans"/>
              </a:defRPr>
            </a:pPr>
            <a:r>
              <a:rPr sz="1575" b="1">
                <a:solidFill>
                  <a:srgbClr val="C7F578"/>
                </a:solidFill>
                <a:latin typeface="Noto Sans"/>
                <a:ea typeface="Noto Sans"/>
                <a:cs typeface="Noto Sans"/>
              </a:rPr>
              <a:t>03   OUTCOME RECORDED</a:t>
            </a:r>
          </a:p>
        </p:txBody>
      </p:sp>
      <p:sp>
        <p:nvSpPr>
          <p:cNvPr id="7" name="text-25">
            <a:extLst xmlns:a="http://schemas.openxmlformats.org/drawingml/2006/main">
              <a:ext uri="{FF2B5EF4-FFF2-40B4-BE49-F238E27FC236}">
                <a16:creationId xmlns:a16="http://schemas.microsoft.com/office/drawing/2014/main" id="{0F82D784-FFB0-4444-A006-564E53B56BD9}"/>
              </a:ext>
            </a:extLst>
          </p:cNvPr>
          <p:cNvSpPr>
            <a:spLocks xmlns:a="http://schemas.openxmlformats.org/drawingml/2006/main" noGrp="1"/>
          </p:cNvSpPr>
          <p:nvPr/>
        </p:nvSpPr>
        <p:spPr>
          <a:xfrm xmlns:a="http://schemas.openxmlformats.org/drawingml/2006/main">
            <a:off x="685800" y="480060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FFFFFF"/>
                </a:solidFill>
                <a:latin typeface="Noto Sans"/>
                <a:ea typeface="Noto Sans"/>
                <a:cs typeface="Noto Sans"/>
              </a:defRPr>
            </a:pPr>
            <a:r>
              <a:rPr sz="2550" b="0">
                <a:solidFill>
                  <a:srgbClr val="FFFFFF"/>
                </a:solidFill>
                <a:latin typeface="Noto Sans"/>
                <a:ea typeface="Noto Sans"/>
                <a:cs typeface="Noto Sans"/>
              </a:rPr>
              <a:t>The ledger retains the reported ending.</a:t>
            </a:r>
          </a:p>
        </p:txBody>
      </p:sp>
      <p:sp>
        <p:nvSpPr>
          <p:cNvPr id="8" name="text-26">
            <a:extLst xmlns:a="http://schemas.openxmlformats.org/drawingml/2006/main">
              <a:ext uri="{FF2B5EF4-FFF2-40B4-BE49-F238E27FC236}">
                <a16:creationId xmlns:a16="http://schemas.microsoft.com/office/drawing/2014/main" id="{6851F416-79E9-460B-8C4A-A6D573BA5E6B}"/>
              </a:ext>
            </a:extLst>
          </p:cNvPr>
          <p:cNvSpPr>
            <a:spLocks xmlns:a="http://schemas.openxmlformats.org/drawingml/2006/main" noGrp="1"/>
          </p:cNvSpPr>
          <p:nvPr/>
        </p:nvSpPr>
        <p:spPr>
          <a:xfrm xmlns:a="http://schemas.openxmlformats.org/drawingml/2006/main">
            <a:off x="685800" y="57816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DCE4EF"/>
                </a:solidFill>
                <a:latin typeface="Noto Sans"/>
                <a:ea typeface="Noto Sans"/>
                <a:cs typeface="Noto Sans"/>
              </a:defRPr>
            </a:pPr>
            <a:r>
              <a:rPr sz="1575" b="0">
                <a:solidFill>
                  <a:srgbClr val="DCE4EF"/>
                </a:solidFill>
                <a:latin typeface="Noto Sans"/>
                <a:ea typeface="Noto Sans"/>
                <a:cs typeface="Noto Sans"/>
              </a:rPr>
              <a:t>These states record user reports. They do not verify clinical outcomes.</a:t>
            </a:r>
          </a:p>
        </p:txBody>
      </p:sp>
      <p:sp>
        <p:nvSpPr>
          <p:cNvPr id="9" name="text-27">
            <a:extLst xmlns:a="http://schemas.openxmlformats.org/drawingml/2006/main">
              <a:ext uri="{FF2B5EF4-FFF2-40B4-BE49-F238E27FC236}">
                <a16:creationId xmlns:a16="http://schemas.microsoft.com/office/drawing/2014/main" id="{31932E37-0E9D-4FCD-8937-2BE61B7C165A}"/>
              </a:ext>
            </a:extLst>
          </p:cNvPr>
          <p:cNvSpPr>
            <a:spLocks xmlns:a="http://schemas.openxmlformats.org/drawingml/2006/main" noGrp="1"/>
          </p:cNvSpPr>
          <p:nvPr/>
        </p:nvSpPr>
        <p:spPr>
          <a:xfrm xmlns:a="http://schemas.openxmlformats.org/drawingml/2006/main">
            <a:off x="685800" y="63436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DCE4EF"/>
                </a:solidFill>
                <a:latin typeface="Noto Sans"/>
                <a:ea typeface="Noto Sans"/>
                <a:cs typeface="Noto Sans"/>
              </a:defRPr>
            </a:pPr>
            <a:r>
              <a:rPr sz="1275" b="0">
                <a:solidFill>
                  <a:srgbClr val="DCE4EF"/>
                </a:solidFill>
                <a:latin typeface="Noto Sans"/>
                <a:ea typeface="Noto Sans"/>
                <a:cs typeface="Noto Sans"/>
              </a:rPr>
              <a:t>Looplight  /  04</a:t>
            </a:r>
          </a:p>
        </p:txBody>
      </p:sp>
    </p:spTree>
    <p:extLst>
      <p:ext uri="{BB962C8B-B14F-4D97-AF65-F5344CB8AC3E}">
        <p14:creationId xmlns:p14="http://schemas.microsoft.com/office/powerpoint/2010/main" val="1064014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ext-28">
            <a:extLst xmlns:a="http://schemas.openxmlformats.org/drawingml/2006/main">
              <a:ext uri="{FF2B5EF4-FFF2-40B4-BE49-F238E27FC236}">
                <a16:creationId xmlns:a16="http://schemas.microsoft.com/office/drawing/2014/main" id="{9F9C4F52-6680-4185-A2B3-5913F7D40281}"/>
              </a:ext>
            </a:extLst>
          </p:cNvPr>
          <p:cNvSpPr>
            <a:spLocks xmlns:a="http://schemas.openxmlformats.org/drawingml/2006/main" noGrp="1"/>
          </p:cNvSpPr>
          <p:nvPr/>
        </p:nvSpPr>
        <p:spPr>
          <a:xfrm xmlns:a="http://schemas.openxmlformats.org/drawingml/2006/main">
            <a:off x="685800" y="5715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675" b="1">
                <a:solidFill>
                  <a:srgbClr val="102238"/>
                </a:solidFill>
                <a:latin typeface="Noto Sans"/>
                <a:ea typeface="Noto Sans"/>
                <a:cs typeface="Noto Sans"/>
              </a:defRPr>
            </a:pPr>
            <a:r>
              <a:rPr sz="3675" b="1">
                <a:solidFill>
                  <a:srgbClr val="102238"/>
                </a:solidFill>
                <a:latin typeface="Noto Sans"/>
                <a:ea typeface="Noto Sans"/>
                <a:cs typeface="Noto Sans"/>
              </a:rPr>
              <a:t>Small model, visible limits</a:t>
            </a:r>
          </a:p>
        </p:txBody>
      </p:sp>
      <p:sp>
        <p:nvSpPr>
          <p:cNvPr id="2" name="text-29">
            <a:extLst xmlns:a="http://schemas.openxmlformats.org/drawingml/2006/main">
              <a:ext uri="{FF2B5EF4-FFF2-40B4-BE49-F238E27FC236}">
                <a16:creationId xmlns:a16="http://schemas.microsoft.com/office/drawing/2014/main" id="{BBCB68CA-CC4B-4981-89CF-83E8E8E4F385}"/>
              </a:ext>
            </a:extLst>
          </p:cNvPr>
          <p:cNvSpPr>
            <a:spLocks xmlns:a="http://schemas.openxmlformats.org/drawingml/2006/main" noGrp="1"/>
          </p:cNvSpPr>
          <p:nvPr/>
        </p:nvSpPr>
        <p:spPr>
          <a:xfrm xmlns:a="http://schemas.openxmlformats.org/drawingml/2006/main">
            <a:off x="685800" y="2105025"/>
            <a:ext cx="3143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575" b="1">
                <a:solidFill>
                  <a:srgbClr val="315BDB"/>
                </a:solidFill>
                <a:latin typeface="Noto Sans"/>
                <a:ea typeface="Noto Sans"/>
                <a:cs typeface="Noto Sans"/>
              </a:defRPr>
            </a:pPr>
            <a:r>
              <a:rPr sz="7575" b="1">
                <a:solidFill>
                  <a:srgbClr val="315BDB"/>
                </a:solidFill>
                <a:latin typeface="Noto Sans"/>
                <a:ea typeface="Noto Sans"/>
                <a:cs typeface="Noto Sans"/>
              </a:rPr>
              <a:t>82%</a:t>
            </a:r>
          </a:p>
        </p:txBody>
      </p:sp>
      <p:sp>
        <p:nvSpPr>
          <p:cNvPr id="3" name="text-30">
            <a:extLst xmlns:a="http://schemas.openxmlformats.org/drawingml/2006/main">
              <a:ext uri="{FF2B5EF4-FFF2-40B4-BE49-F238E27FC236}">
                <a16:creationId xmlns:a16="http://schemas.microsoft.com/office/drawing/2014/main" id="{B8488BE9-F44A-49C8-A1EC-4F4CECF61391}"/>
              </a:ext>
            </a:extLst>
          </p:cNvPr>
          <p:cNvSpPr>
            <a:spLocks xmlns:a="http://schemas.openxmlformats.org/drawingml/2006/main" noGrp="1"/>
          </p:cNvSpPr>
          <p:nvPr/>
        </p:nvSpPr>
        <p:spPr>
          <a:xfrm xmlns:a="http://schemas.openxmlformats.org/drawingml/2006/main">
            <a:off x="723900" y="3371850"/>
            <a:ext cx="2952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02238"/>
                </a:solidFill>
                <a:latin typeface="Noto Sans"/>
                <a:ea typeface="Noto Sans"/>
                <a:cs typeface="Noto Sans"/>
              </a:defRPr>
            </a:pPr>
            <a:r>
              <a:rPr sz="2175" b="1">
                <a:solidFill>
                  <a:srgbClr val="102238"/>
                </a:solidFill>
                <a:latin typeface="Noto Sans"/>
                <a:ea typeface="Noto Sans"/>
                <a:cs typeface="Noto Sans"/>
              </a:rPr>
              <a:t>raw five-category</a:t>
            </a:r>
          </a:p>
          <a:p xmlns:a="http://schemas.openxmlformats.org/drawingml/2006/main">
            <a:pPr>
              <a:defRPr sz="2175" b="1">
                <a:solidFill>
                  <a:srgbClr val="102238"/>
                </a:solidFill>
                <a:latin typeface="Noto Sans"/>
                <a:ea typeface="Noto Sans"/>
                <a:cs typeface="Noto Sans"/>
              </a:defRPr>
            </a:pPr>
            <a:r>
              <a:rPr sz="2175" b="1">
                <a:solidFill>
                  <a:srgbClr val="102238"/>
                </a:solidFill>
                <a:latin typeface="Noto Sans"/>
                <a:ea typeface="Noto Sans"/>
                <a:cs typeface="Noto Sans"/>
              </a:rPr>
              <a:t>accuracy</a:t>
            </a:r>
          </a:p>
        </p:txBody>
      </p:sp>
      <p:sp>
        <p:nvSpPr>
          <p:cNvPr id="4" name="text-31">
            <a:extLst xmlns:a="http://schemas.openxmlformats.org/drawingml/2006/main">
              <a:ext uri="{FF2B5EF4-FFF2-40B4-BE49-F238E27FC236}">
                <a16:creationId xmlns:a16="http://schemas.microsoft.com/office/drawing/2014/main" id="{55E524C9-57B1-4046-BB2D-2C1C2F0BFF50}"/>
              </a:ext>
            </a:extLst>
          </p:cNvPr>
          <p:cNvSpPr>
            <a:spLocks xmlns:a="http://schemas.openxmlformats.org/drawingml/2006/main" noGrp="1"/>
          </p:cNvSpPr>
          <p:nvPr/>
        </p:nvSpPr>
        <p:spPr>
          <a:xfrm xmlns:a="http://schemas.openxmlformats.org/drawingml/2006/main">
            <a:off x="4495800" y="2105025"/>
            <a:ext cx="32385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6825" b="1">
                <a:solidFill>
                  <a:srgbClr val="315BDB"/>
                </a:solidFill>
                <a:latin typeface="Noto Sans"/>
                <a:ea typeface="Noto Sans"/>
                <a:cs typeface="Noto Sans"/>
              </a:defRPr>
            </a:pPr>
            <a:r>
              <a:rPr sz="6825" b="1">
                <a:solidFill>
                  <a:srgbClr val="315BDB"/>
                </a:solidFill>
                <a:latin typeface="Noto Sans"/>
                <a:ea typeface="Noto Sans"/>
                <a:cs typeface="Noto Sans"/>
              </a:rPr>
              <a:t>0.816</a:t>
            </a:r>
          </a:p>
        </p:txBody>
      </p:sp>
      <p:sp>
        <p:nvSpPr>
          <p:cNvPr id="5" name="text-32">
            <a:extLst xmlns:a="http://schemas.openxmlformats.org/drawingml/2006/main">
              <a:ext uri="{FF2B5EF4-FFF2-40B4-BE49-F238E27FC236}">
                <a16:creationId xmlns:a16="http://schemas.microsoft.com/office/drawing/2014/main" id="{E183731C-6F2A-452F-A962-72759C68C3B3}"/>
              </a:ext>
            </a:extLst>
          </p:cNvPr>
          <p:cNvSpPr>
            <a:spLocks xmlns:a="http://schemas.openxmlformats.org/drawingml/2006/main" noGrp="1"/>
          </p:cNvSpPr>
          <p:nvPr/>
        </p:nvSpPr>
        <p:spPr>
          <a:xfrm xmlns:a="http://schemas.openxmlformats.org/drawingml/2006/main">
            <a:off x="4552950" y="3371850"/>
            <a:ext cx="2952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02238"/>
                </a:solidFill>
                <a:latin typeface="Noto Sans"/>
                <a:ea typeface="Noto Sans"/>
                <a:cs typeface="Noto Sans"/>
              </a:defRPr>
            </a:pPr>
            <a:r>
              <a:rPr sz="2175" b="1">
                <a:solidFill>
                  <a:srgbClr val="102238"/>
                </a:solidFill>
                <a:latin typeface="Noto Sans"/>
                <a:ea typeface="Noto Sans"/>
                <a:cs typeface="Noto Sans"/>
              </a:rPr>
              <a:t>macro F1</a:t>
            </a:r>
          </a:p>
        </p:txBody>
      </p:sp>
      <p:sp>
        <p:nvSpPr>
          <p:cNvPr id="6" name="text-33">
            <a:extLst xmlns:a="http://schemas.openxmlformats.org/drawingml/2006/main">
              <a:ext uri="{FF2B5EF4-FFF2-40B4-BE49-F238E27FC236}">
                <a16:creationId xmlns:a16="http://schemas.microsoft.com/office/drawing/2014/main" id="{B46438F1-A96F-451A-97FF-89F818E3F69A}"/>
              </a:ext>
            </a:extLst>
          </p:cNvPr>
          <p:cNvSpPr>
            <a:spLocks xmlns:a="http://schemas.openxmlformats.org/drawingml/2006/main" noGrp="1"/>
          </p:cNvSpPr>
          <p:nvPr/>
        </p:nvSpPr>
        <p:spPr>
          <a:xfrm xmlns:a="http://schemas.openxmlformats.org/drawingml/2006/main">
            <a:off x="8315325" y="2105025"/>
            <a:ext cx="319087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6600" b="1">
                <a:solidFill>
                  <a:srgbClr val="315BDB"/>
                </a:solidFill>
                <a:latin typeface="Noto Sans"/>
                <a:ea typeface="Noto Sans"/>
                <a:cs typeface="Noto Sans"/>
              </a:defRPr>
            </a:pPr>
            <a:r>
              <a:rPr sz="6600" b="1">
                <a:solidFill>
                  <a:srgbClr val="315BDB"/>
                </a:solidFill>
                <a:latin typeface="Noto Sans"/>
                <a:ea typeface="Noto Sans"/>
                <a:cs typeface="Noto Sans"/>
              </a:rPr>
              <a:t>44/50</a:t>
            </a:r>
          </a:p>
        </p:txBody>
      </p:sp>
      <p:sp>
        <p:nvSpPr>
          <p:cNvPr id="7" name="text-34">
            <a:extLst xmlns:a="http://schemas.openxmlformats.org/drawingml/2006/main">
              <a:ext uri="{FF2B5EF4-FFF2-40B4-BE49-F238E27FC236}">
                <a16:creationId xmlns:a16="http://schemas.microsoft.com/office/drawing/2014/main" id="{7A2C4D92-1CF8-41C2-BBE3-FAEE95CD2843}"/>
              </a:ext>
            </a:extLst>
          </p:cNvPr>
          <p:cNvSpPr>
            <a:spLocks xmlns:a="http://schemas.openxmlformats.org/drawingml/2006/main" noGrp="1"/>
          </p:cNvSpPr>
          <p:nvPr/>
        </p:nvSpPr>
        <p:spPr>
          <a:xfrm xmlns:a="http://schemas.openxmlformats.org/drawingml/2006/main">
            <a:off x="8372475" y="3371850"/>
            <a:ext cx="3095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102238"/>
                </a:solidFill>
                <a:latin typeface="Noto Sans"/>
                <a:ea typeface="Noto Sans"/>
                <a:cs typeface="Noto Sans"/>
              </a:defRPr>
            </a:pPr>
            <a:r>
              <a:rPr sz="2025" b="1">
                <a:solidFill>
                  <a:srgbClr val="102238"/>
                </a:solidFill>
                <a:latin typeface="Noto Sans"/>
                <a:ea typeface="Noto Sans"/>
                <a:cs typeface="Noto Sans"/>
              </a:rPr>
              <a:t>abstained at the</a:t>
            </a:r>
          </a:p>
          <a:p xmlns:a="http://schemas.openxmlformats.org/drawingml/2006/main">
            <a:pPr>
              <a:defRPr sz="2025" b="1">
                <a:solidFill>
                  <a:srgbClr val="102238"/>
                </a:solidFill>
                <a:latin typeface="Noto Sans"/>
                <a:ea typeface="Noto Sans"/>
                <a:cs typeface="Noto Sans"/>
              </a:defRPr>
            </a:pPr>
            <a:r>
              <a:rPr sz="2025" b="1">
                <a:solidFill>
                  <a:srgbClr val="102238"/>
                </a:solidFill>
                <a:latin typeface="Noto Sans"/>
                <a:ea typeface="Noto Sans"/>
                <a:cs typeface="Noto Sans"/>
              </a:rPr>
              <a:t>configured threshold</a:t>
            </a:r>
          </a:p>
        </p:txBody>
      </p:sp>
      <p:sp>
        <p:nvSpPr>
          <p:cNvPr id="8" name="text-35">
            <a:extLst xmlns:a="http://schemas.openxmlformats.org/drawingml/2006/main">
              <a:ext uri="{FF2B5EF4-FFF2-40B4-BE49-F238E27FC236}">
                <a16:creationId xmlns:a16="http://schemas.microsoft.com/office/drawing/2014/main" id="{219161CC-E11D-4ED0-8368-5ADC2272EEE4}"/>
              </a:ext>
            </a:extLst>
          </p:cNvPr>
          <p:cNvSpPr>
            <a:spLocks xmlns:a="http://schemas.openxmlformats.org/drawingml/2006/main" noGrp="1"/>
          </p:cNvSpPr>
          <p:nvPr/>
        </p:nvSpPr>
        <p:spPr>
          <a:xfrm xmlns:a="http://schemas.openxmlformats.org/drawingml/2006/main">
            <a:off x="685800" y="472440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A687C"/>
                </a:solidFill>
                <a:latin typeface="Noto Sans"/>
                <a:ea typeface="Noto Sans"/>
                <a:cs typeface="Noto Sans"/>
              </a:defRPr>
            </a:pPr>
            <a:r>
              <a:rPr sz="1800" b="0">
                <a:solidFill>
                  <a:srgbClr val="5A687C"/>
                </a:solidFill>
                <a:latin typeface="Noto Sans"/>
                <a:ea typeface="Noto Sans"/>
                <a:cs typeface="Noto Sans"/>
              </a:rPr>
              <a:t>225 synthetic training examples. 50 separately authored challenge examples.</a:t>
            </a:r>
          </a:p>
        </p:txBody>
      </p:sp>
      <p:sp>
        <p:nvSpPr>
          <p:cNvPr id="9" name="text-36">
            <a:extLst xmlns:a="http://schemas.openxmlformats.org/drawingml/2006/main">
              <a:ext uri="{FF2B5EF4-FFF2-40B4-BE49-F238E27FC236}">
                <a16:creationId xmlns:a16="http://schemas.microsoft.com/office/drawing/2014/main" id="{52F054E1-3289-4258-B908-4192CE18AFBD}"/>
              </a:ext>
            </a:extLst>
          </p:cNvPr>
          <p:cNvSpPr>
            <a:spLocks xmlns:a="http://schemas.openxmlformats.org/drawingml/2006/main" noGrp="1"/>
          </p:cNvSpPr>
          <p:nvPr/>
        </p:nvSpPr>
        <p:spPr>
          <a:xfrm xmlns:a="http://schemas.openxmlformats.org/drawingml/2006/main">
            <a:off x="685800" y="528637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102238"/>
                </a:solidFill>
                <a:latin typeface="Noto Sans"/>
                <a:ea typeface="Noto Sans"/>
                <a:cs typeface="Noto Sans"/>
              </a:defRPr>
            </a:pPr>
            <a:r>
              <a:rPr sz="2100" b="1">
                <a:solidFill>
                  <a:srgbClr val="102238"/>
                </a:solidFill>
                <a:latin typeface="Noto Sans"/>
                <a:ea typeface="Noto Sans"/>
                <a:cs typeface="Noto Sans"/>
              </a:rPr>
              <a:t>Synthetic classification evidence. Clinical validation remains outstanding.</a:t>
            </a:r>
          </a:p>
        </p:txBody>
      </p:sp>
      <p:sp>
        <p:nvSpPr>
          <p:cNvPr id="10" name="text-37">
            <a:extLst xmlns:a="http://schemas.openxmlformats.org/drawingml/2006/main">
              <a:ext uri="{FF2B5EF4-FFF2-40B4-BE49-F238E27FC236}">
                <a16:creationId xmlns:a16="http://schemas.microsoft.com/office/drawing/2014/main" id="{AAFE4F28-EB48-46DE-9771-7EDA64197F8E}"/>
              </a:ext>
            </a:extLst>
          </p:cNvPr>
          <p:cNvSpPr>
            <a:spLocks xmlns:a="http://schemas.openxmlformats.org/drawingml/2006/main" noGrp="1"/>
          </p:cNvSpPr>
          <p:nvPr/>
        </p:nvSpPr>
        <p:spPr>
          <a:xfrm xmlns:a="http://schemas.openxmlformats.org/drawingml/2006/main">
            <a:off x="685800" y="63436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A687C"/>
                </a:solidFill>
                <a:latin typeface="Noto Sans"/>
                <a:ea typeface="Noto Sans"/>
                <a:cs typeface="Noto Sans"/>
              </a:defRPr>
            </a:pPr>
            <a:r>
              <a:rPr sz="1275" b="0">
                <a:solidFill>
                  <a:srgbClr val="5A687C"/>
                </a:solidFill>
                <a:latin typeface="Noto Sans"/>
                <a:ea typeface="Noto Sans"/>
                <a:cs typeface="Noto Sans"/>
              </a:rPr>
              <a:t>Looplight  /  05</a:t>
            </a:r>
          </a:p>
        </p:txBody>
      </p:sp>
    </p:spTree>
    <p:extLst>
      <p:ext uri="{BB962C8B-B14F-4D97-AF65-F5344CB8AC3E}">
        <p14:creationId xmlns:p14="http://schemas.microsoft.com/office/powerpoint/2010/main" val="1279393062"/>
      </p:ext>
    </p:extLst>
  </p:cSld>
</p:sld>
</file>

<file path=ppt/slides/slide6.xml><?xml version="1.0" encoding="utf-8"?>
<p:sld xmlns:p="http://schemas.openxmlformats.org/presentationml/2006/main">
  <p:cSld>
    <p:bg>
      <p:bgPr>
        <a:solidFill xmlns:a="http://schemas.openxmlformats.org/drawingml/2006/main">
          <a:srgbClr val="C7F578"/>
        </a:solidFill>
      </p:bgPr>
    </p:bg>
    <p:spTree>
      <p:nvGrpSpPr>
        <p:cNvPr id="1" name=""/>
        <p:cNvGrpSpPr/>
        <p:nvPr/>
      </p:nvGrpSpPr>
      <p:grpSpPr>
        <a:xfrm xmlns:a="http://schemas.openxmlformats.org/drawingml/2006/main"/>
      </p:grpSpPr>
      <p:sp>
        <p:nvSpPr>
          <p:cNvPr id="9" name="text-38">
            <a:extLst xmlns:a="http://schemas.openxmlformats.org/drawingml/2006/main">
              <a:ext uri="{FF2B5EF4-FFF2-40B4-BE49-F238E27FC236}">
                <a16:creationId xmlns:a16="http://schemas.microsoft.com/office/drawing/2014/main" id="{94EF23E2-56BA-43A7-98F2-D2A264364085}"/>
              </a:ext>
            </a:extLst>
          </p:cNvPr>
          <p:cNvSpPr>
            <a:spLocks xmlns:a="http://schemas.openxmlformats.org/drawingml/2006/main" noGrp="1"/>
          </p:cNvSpPr>
          <p:nvPr/>
        </p:nvSpPr>
        <p:spPr>
          <a:xfrm xmlns:a="http://schemas.openxmlformats.org/drawingml/2006/main">
            <a:off x="685800" y="5715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675" b="1">
                <a:solidFill>
                  <a:srgbClr val="102238"/>
                </a:solidFill>
                <a:latin typeface="Noto Sans"/>
                <a:ea typeface="Noto Sans"/>
                <a:cs typeface="Noto Sans"/>
              </a:defRPr>
            </a:pPr>
            <a:r>
              <a:rPr sz="3675" b="1">
                <a:solidFill>
                  <a:srgbClr val="102238"/>
                </a:solidFill>
                <a:latin typeface="Noto Sans"/>
                <a:ea typeface="Noto Sans"/>
                <a:cs typeface="Noto Sans"/>
              </a:rPr>
              <a:t>A narrow first customer</a:t>
            </a:r>
          </a:p>
        </p:txBody>
      </p:sp>
      <p:sp>
        <p:nvSpPr>
          <p:cNvPr id="2" name="text-39">
            <a:extLst xmlns:a="http://schemas.openxmlformats.org/drawingml/2006/main">
              <a:ext uri="{FF2B5EF4-FFF2-40B4-BE49-F238E27FC236}">
                <a16:creationId xmlns:a16="http://schemas.microsoft.com/office/drawing/2014/main" id="{F41BB68A-44A8-418C-BF55-71A183565B6D}"/>
              </a:ext>
            </a:extLst>
          </p:cNvPr>
          <p:cNvSpPr>
            <a:spLocks xmlns:a="http://schemas.openxmlformats.org/drawingml/2006/main" noGrp="1"/>
          </p:cNvSpPr>
          <p:nvPr/>
        </p:nvSpPr>
        <p:spPr>
          <a:xfrm xmlns:a="http://schemas.openxmlformats.org/drawingml/2006/main">
            <a:off x="685800" y="1933575"/>
            <a:ext cx="10572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1">
                <a:solidFill>
                  <a:srgbClr val="102238"/>
                </a:solidFill>
                <a:latin typeface="Noto Sans"/>
                <a:ea typeface="Noto Sans"/>
                <a:cs typeface="Noto Sans"/>
              </a:defRPr>
            </a:pPr>
            <a:r>
              <a:rPr sz="2925" b="1">
                <a:solidFill>
                  <a:srgbClr val="102238"/>
                </a:solidFill>
                <a:latin typeface="Noto Sans"/>
                <a:ea typeface="Noto Sans"/>
                <a:cs typeface="Noto Sans"/>
              </a:rPr>
              <a:t>A primary-care or transitions coordinator</a:t>
            </a:r>
          </a:p>
          <a:p xmlns:a="http://schemas.openxmlformats.org/drawingml/2006/main">
            <a:pPr>
              <a:defRPr sz="2925" b="1">
                <a:solidFill>
                  <a:srgbClr val="102238"/>
                </a:solidFill>
                <a:latin typeface="Noto Sans"/>
                <a:ea typeface="Noto Sans"/>
                <a:cs typeface="Noto Sans"/>
              </a:defRPr>
            </a:pPr>
            <a:r>
              <a:rPr sz="2925" b="1">
                <a:solidFill>
                  <a:srgbClr val="102238"/>
                </a:solidFill>
                <a:latin typeface="Noto Sans"/>
                <a:ea typeface="Noto Sans"/>
                <a:cs typeface="Noto Sans"/>
              </a:rPr>
              <a:t>already chasing discharge follow-up.</a:t>
            </a:r>
          </a:p>
        </p:txBody>
      </p:sp>
      <p:sp>
        <p:nvSpPr>
          <p:cNvPr id="3" name="text-40">
            <a:extLst xmlns:a="http://schemas.openxmlformats.org/drawingml/2006/main">
              <a:ext uri="{FF2B5EF4-FFF2-40B4-BE49-F238E27FC236}">
                <a16:creationId xmlns:a16="http://schemas.microsoft.com/office/drawing/2014/main" id="{6F12CF43-478B-4AC3-B23E-FF5F329E7E5A}"/>
              </a:ext>
            </a:extLst>
          </p:cNvPr>
          <p:cNvSpPr>
            <a:spLocks xmlns:a="http://schemas.openxmlformats.org/drawingml/2006/main" noGrp="1"/>
          </p:cNvSpPr>
          <p:nvPr/>
        </p:nvSpPr>
        <p:spPr>
          <a:xfrm xmlns:a="http://schemas.openxmlformats.org/drawingml/2006/main">
            <a:off x="685800" y="3562350"/>
            <a:ext cx="4667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6825" b="1">
                <a:solidFill>
                  <a:srgbClr val="102238"/>
                </a:solidFill>
                <a:latin typeface="Noto Sans"/>
                <a:ea typeface="Noto Sans"/>
                <a:cs typeface="Noto Sans"/>
              </a:defRPr>
            </a:pPr>
            <a:r>
              <a:rPr sz="6825" b="1">
                <a:solidFill>
                  <a:srgbClr val="102238"/>
                </a:solidFill>
                <a:latin typeface="Noto Sans"/>
                <a:ea typeface="Noto Sans"/>
                <a:cs typeface="Noto Sans"/>
              </a:rPr>
              <a:t>$149</a:t>
            </a:r>
          </a:p>
        </p:txBody>
      </p:sp>
      <p:sp>
        <p:nvSpPr>
          <p:cNvPr id="4" name="text-41">
            <a:extLst xmlns:a="http://schemas.openxmlformats.org/drawingml/2006/main">
              <a:ext uri="{FF2B5EF4-FFF2-40B4-BE49-F238E27FC236}">
                <a16:creationId xmlns:a16="http://schemas.microsoft.com/office/drawing/2014/main" id="{6F9FB169-9740-41F2-A94A-C234D31EEC44}"/>
              </a:ext>
            </a:extLst>
          </p:cNvPr>
          <p:cNvSpPr>
            <a:spLocks xmlns:a="http://schemas.openxmlformats.org/drawingml/2006/main" noGrp="1"/>
          </p:cNvSpPr>
          <p:nvPr/>
        </p:nvSpPr>
        <p:spPr>
          <a:xfrm xmlns:a="http://schemas.openxmlformats.org/drawingml/2006/main">
            <a:off x="742950" y="4810125"/>
            <a:ext cx="54768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2238"/>
                </a:solidFill>
                <a:latin typeface="Noto Sans"/>
                <a:ea typeface="Noto Sans"/>
                <a:cs typeface="Noto Sans"/>
              </a:defRPr>
            </a:pPr>
            <a:r>
              <a:rPr sz="1875" b="0">
                <a:solidFill>
                  <a:srgbClr val="102238"/>
                </a:solidFill>
                <a:latin typeface="Noto Sans"/>
                <a:ea typeface="Noto Sans"/>
                <a:cs typeface="Noto Sans"/>
              </a:rPr>
              <a:t>per month / 100 care episodes</a:t>
            </a:r>
          </a:p>
          <a:p xmlns:a="http://schemas.openxmlformats.org/drawingml/2006/main">
            <a:pPr>
              <a:defRPr sz="1875" b="0">
                <a:solidFill>
                  <a:srgbClr val="102238"/>
                </a:solidFill>
                <a:latin typeface="Noto Sans"/>
                <a:ea typeface="Noto Sans"/>
                <a:cs typeface="Noto Sans"/>
              </a:defRPr>
            </a:pPr>
            <a:r>
              <a:rPr sz="1875" b="0">
                <a:solidFill>
                  <a:srgbClr val="102238"/>
                </a:solidFill>
                <a:latin typeface="Noto Sans"/>
                <a:ea typeface="Noto Sans"/>
                <a:cs typeface="Noto Sans"/>
              </a:rPr>
              <a:t>Single-coordinator pricing hypothesis</a:t>
            </a:r>
          </a:p>
        </p:txBody>
      </p:sp>
      <p:sp>
        <p:nvSpPr>
          <p:cNvPr id="5" name="text-42">
            <a:extLst xmlns:a="http://schemas.openxmlformats.org/drawingml/2006/main">
              <a:ext uri="{FF2B5EF4-FFF2-40B4-BE49-F238E27FC236}">
                <a16:creationId xmlns:a16="http://schemas.microsoft.com/office/drawing/2014/main" id="{D37F921A-CCFB-41C6-AF1E-CD9352EFF454}"/>
              </a:ext>
            </a:extLst>
          </p:cNvPr>
          <p:cNvSpPr>
            <a:spLocks xmlns:a="http://schemas.openxmlformats.org/drawingml/2006/main" noGrp="1"/>
          </p:cNvSpPr>
          <p:nvPr/>
        </p:nvSpPr>
        <p:spPr>
          <a:xfrm xmlns:a="http://schemas.openxmlformats.org/drawingml/2006/main">
            <a:off x="6705600" y="3619500"/>
            <a:ext cx="4762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02238"/>
                </a:solidFill>
                <a:latin typeface="Noto Sans"/>
                <a:ea typeface="Noto Sans"/>
                <a:cs typeface="Noto Sans"/>
              </a:defRPr>
            </a:pPr>
            <a:r>
              <a:rPr sz="2175" b="1">
                <a:solidFill>
                  <a:srgbClr val="102238"/>
                </a:solidFill>
                <a:latin typeface="Noto Sans"/>
                <a:ea typeface="Noto Sans"/>
                <a:cs typeface="Noto Sans"/>
              </a:rPr>
              <a:t>The value to measure</a:t>
            </a:r>
          </a:p>
        </p:txBody>
      </p:sp>
      <p:sp>
        <p:nvSpPr>
          <p:cNvPr id="6" name="text-43">
            <a:extLst xmlns:a="http://schemas.openxmlformats.org/drawingml/2006/main">
              <a:ext uri="{FF2B5EF4-FFF2-40B4-BE49-F238E27FC236}">
                <a16:creationId xmlns:a16="http://schemas.microsoft.com/office/drawing/2014/main" id="{224564E0-64E4-4149-A3B3-3C6DA78BED81}"/>
              </a:ext>
            </a:extLst>
          </p:cNvPr>
          <p:cNvSpPr>
            <a:spLocks xmlns:a="http://schemas.openxmlformats.org/drawingml/2006/main" noGrp="1"/>
          </p:cNvSpPr>
          <p:nvPr/>
        </p:nvSpPr>
        <p:spPr>
          <a:xfrm xmlns:a="http://schemas.openxmlformats.org/drawingml/2006/main">
            <a:off x="6705600" y="4257675"/>
            <a:ext cx="47625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2238"/>
                </a:solidFill>
                <a:latin typeface="Noto Sans"/>
                <a:ea typeface="Noto Sans"/>
                <a:cs typeface="Noto Sans"/>
              </a:defRPr>
            </a:pPr>
            <a:r>
              <a:rPr sz="1875" b="0">
                <a:solidFill>
                  <a:srgbClr val="102238"/>
                </a:solidFill>
                <a:latin typeface="Noto Sans"/>
                <a:ea typeface="Noto Sans"/>
                <a:cs typeface="Noto Sans"/>
              </a:rPr>
              <a:t>Preparation time and correction burden.</a:t>
            </a:r>
          </a:p>
          <a:p xmlns:a="http://schemas.openxmlformats.org/drawingml/2006/main">
            <a:pPr>
              <a:defRPr sz="1875" b="0">
                <a:solidFill>
                  <a:srgbClr val="102238"/>
                </a:solidFill>
                <a:latin typeface="Noto Sans"/>
                <a:ea typeface="Noto Sans"/>
                <a:cs typeface="Noto Sans"/>
              </a:defRPr>
            </a:pPr>
            <a:r>
              <a:rPr sz="1875" b="0">
                <a:solidFill>
                  <a:srgbClr val="102238"/>
                </a:solidFill>
                <a:latin typeface="Noto Sans"/>
                <a:ea typeface="Noto Sans"/>
                <a:cs typeface="Noto Sans"/>
              </a:rPr>
              <a:t>Five minutes saved × 100 episodes</a:t>
            </a:r>
          </a:p>
          <a:p xmlns:a="http://schemas.openxmlformats.org/drawingml/2006/main">
            <a:pPr>
              <a:defRPr sz="1875" b="0">
                <a:solidFill>
                  <a:srgbClr val="102238"/>
                </a:solidFill>
                <a:latin typeface="Noto Sans"/>
                <a:ea typeface="Noto Sans"/>
                <a:cs typeface="Noto Sans"/>
              </a:defRPr>
            </a:pPr>
            <a:r>
              <a:rPr sz="1875" b="0">
                <a:solidFill>
                  <a:srgbClr val="102238"/>
                </a:solidFill>
                <a:latin typeface="Noto Sans"/>
                <a:ea typeface="Noto Sans"/>
                <a:cs typeface="Noto Sans"/>
              </a:rPr>
              <a:t>at $35/hour = about $292/month.</a:t>
            </a:r>
          </a:p>
        </p:txBody>
      </p:sp>
      <p:sp>
        <p:nvSpPr>
          <p:cNvPr id="7" name="text-44">
            <a:extLst xmlns:a="http://schemas.openxmlformats.org/drawingml/2006/main">
              <a:ext uri="{FF2B5EF4-FFF2-40B4-BE49-F238E27FC236}">
                <a16:creationId xmlns:a16="http://schemas.microsoft.com/office/drawing/2014/main" id="{36EC6C86-B21C-4522-939B-BD6C4A8BBCC4}"/>
              </a:ext>
            </a:extLst>
          </p:cNvPr>
          <p:cNvSpPr>
            <a:spLocks xmlns:a="http://schemas.openxmlformats.org/drawingml/2006/main" noGrp="1"/>
          </p:cNvSpPr>
          <p:nvPr/>
        </p:nvSpPr>
        <p:spPr>
          <a:xfrm xmlns:a="http://schemas.openxmlformats.org/drawingml/2006/main">
            <a:off x="685800" y="5953125"/>
            <a:ext cx="10820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0">
                <a:solidFill>
                  <a:srgbClr val="102238"/>
                </a:solidFill>
                <a:latin typeface="Noto Sans"/>
                <a:ea typeface="Noto Sans"/>
                <a:cs typeface="Noto Sans"/>
              </a:defRPr>
            </a:pPr>
            <a:r>
              <a:rPr sz="1425" b="0">
                <a:solidFill>
                  <a:srgbClr val="102238"/>
                </a:solidFill>
                <a:latin typeface="Noto Sans"/>
                <a:ea typeface="Noto Sans"/>
                <a:cs typeface="Noto Sans"/>
              </a:rPr>
              <a:t>Illustrative inputs, before review and implementation costs. No observed ROI.</a:t>
            </a:r>
          </a:p>
        </p:txBody>
      </p:sp>
      <p:sp>
        <p:nvSpPr>
          <p:cNvPr id="8" name="text-45">
            <a:extLst xmlns:a="http://schemas.openxmlformats.org/drawingml/2006/main">
              <a:ext uri="{FF2B5EF4-FFF2-40B4-BE49-F238E27FC236}">
                <a16:creationId xmlns:a16="http://schemas.microsoft.com/office/drawing/2014/main" id="{76AA6FCE-5FF6-4320-974E-C4E8F5862696}"/>
              </a:ext>
            </a:extLst>
          </p:cNvPr>
          <p:cNvSpPr>
            <a:spLocks xmlns:a="http://schemas.openxmlformats.org/drawingml/2006/main" noGrp="1"/>
          </p:cNvSpPr>
          <p:nvPr/>
        </p:nvSpPr>
        <p:spPr>
          <a:xfrm xmlns:a="http://schemas.openxmlformats.org/drawingml/2006/main">
            <a:off x="685800" y="6343650"/>
            <a:ext cx="990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0">
                <a:solidFill>
                  <a:srgbClr val="5A687C"/>
                </a:solidFill>
                <a:latin typeface="Noto Sans"/>
                <a:ea typeface="Noto Sans"/>
                <a:cs typeface="Noto Sans"/>
              </a:defRPr>
            </a:pPr>
            <a:r>
              <a:rPr sz="1275" b="0">
                <a:solidFill>
                  <a:srgbClr val="5A687C"/>
                </a:solidFill>
                <a:latin typeface="Noto Sans"/>
                <a:ea typeface="Noto Sans"/>
                <a:cs typeface="Noto Sans"/>
              </a:rPr>
              <a:t>Looplight  /  06</a:t>
            </a:r>
          </a:p>
        </p:txBody>
      </p:sp>
    </p:spTree>
    <p:extLst>
      <p:ext uri="{BB962C8B-B14F-4D97-AF65-F5344CB8AC3E}">
        <p14:creationId xmlns:p14="http://schemas.microsoft.com/office/powerpoint/2010/main" val="1132469266"/>
      </p:ext>
    </p:extLst>
  </p:cSld>
</p:sld>
</file>

<file path=ppt/slides/slide7.xml><?xml version="1.0" encoding="utf-8"?>
<p:sld xmlns:p="http://schemas.openxmlformats.org/presentationml/2006/main">
  <p:cSld>
    <p:bg>
      <p:bgPr>
        <a:solidFill xmlns:a="http://schemas.openxmlformats.org/drawingml/2006/main">
          <a:srgbClr val="102238"/>
        </a:solidFill>
      </p:bgPr>
    </p:bg>
    <p:spTree>
      <p:nvGrpSpPr>
        <p:cNvPr id="1" name=""/>
        <p:cNvGrpSpPr/>
        <p:nvPr/>
      </p:nvGrpSpPr>
      <p:grpSpPr>
        <a:xfrm xmlns:a="http://schemas.openxmlformats.org/drawingml/2006/main"/>
      </p:grpSpPr>
      <p:sp>
        <p:nvSpPr>
          <p:cNvPr id="6" name="text-46">
            <a:extLst xmlns:a="http://schemas.openxmlformats.org/drawingml/2006/main">
              <a:ext uri="{FF2B5EF4-FFF2-40B4-BE49-F238E27FC236}">
                <a16:creationId xmlns:a16="http://schemas.microsoft.com/office/drawing/2014/main" id="{D15C9BA3-156E-4F87-BA25-A9E0D0C20E00}"/>
              </a:ext>
            </a:extLst>
          </p:cNvPr>
          <p:cNvSpPr>
            <a:spLocks xmlns:a="http://schemas.openxmlformats.org/drawingml/2006/main" noGrp="1"/>
          </p:cNvSpPr>
          <p:nvPr/>
        </p:nvSpPr>
        <p:spPr>
          <a:xfrm xmlns:a="http://schemas.openxmlformats.org/drawingml/2006/main">
            <a:off x="685800" y="571500"/>
            <a:ext cx="108204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675" b="1">
                <a:solidFill>
                  <a:srgbClr val="FFFFFF"/>
                </a:solidFill>
                <a:latin typeface="Noto Sans"/>
                <a:ea typeface="Noto Sans"/>
                <a:cs typeface="Noto Sans"/>
              </a:defRPr>
            </a:pPr>
            <a:r>
              <a:rPr sz="3675" b="1">
                <a:solidFill>
                  <a:srgbClr val="FFFFFF"/>
                </a:solidFill>
                <a:latin typeface="Noto Sans"/>
                <a:ea typeface="Noto Sans"/>
                <a:cs typeface="Noto Sans"/>
              </a:rPr>
              <a:t>The next proof is a supervised pilot</a:t>
            </a:r>
          </a:p>
        </p:txBody>
      </p:sp>
      <p:sp>
        <p:nvSpPr>
          <p:cNvPr id="2" name="text-47">
            <a:extLst xmlns:a="http://schemas.openxmlformats.org/drawingml/2006/main">
              <a:ext uri="{FF2B5EF4-FFF2-40B4-BE49-F238E27FC236}">
                <a16:creationId xmlns:a16="http://schemas.microsoft.com/office/drawing/2014/main" id="{F86BB7A8-BCE5-4F6E-8A58-6EC5EC2706FD}"/>
              </a:ext>
            </a:extLst>
          </p:cNvPr>
          <p:cNvSpPr>
            <a:spLocks xmlns:a="http://schemas.openxmlformats.org/drawingml/2006/main" noGrp="1"/>
          </p:cNvSpPr>
          <p:nvPr/>
        </p:nvSpPr>
        <p:spPr>
          <a:xfrm xmlns:a="http://schemas.openxmlformats.org/drawingml/2006/main">
            <a:off x="685800" y="2171700"/>
            <a:ext cx="10744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150" b="1">
                <a:solidFill>
                  <a:srgbClr val="FFFFFF"/>
                </a:solidFill>
                <a:latin typeface="Noto Sans"/>
                <a:ea typeface="Noto Sans"/>
                <a:cs typeface="Noto Sans"/>
              </a:defRPr>
            </a:pPr>
            <a:r>
              <a:rPr sz="3150" b="1">
                <a:solidFill>
                  <a:srgbClr val="FFFFFF"/>
                </a:solidFill>
                <a:latin typeface="Noto Sans"/>
                <a:ea typeface="Noto Sans"/>
                <a:cs typeface="Noto Sans"/>
              </a:rPr>
              <a:t>Can staff prepare a reliable plan faster?</a:t>
            </a:r>
          </a:p>
        </p:txBody>
      </p:sp>
      <p:sp>
        <p:nvSpPr>
          <p:cNvPr id="3" name="text-48">
            <a:extLst xmlns:a="http://schemas.openxmlformats.org/drawingml/2006/main">
              <a:ext uri="{FF2B5EF4-FFF2-40B4-BE49-F238E27FC236}">
                <a16:creationId xmlns:a16="http://schemas.microsoft.com/office/drawing/2014/main" id="{819B0E24-77BE-4B0F-809D-29B17C23C294}"/>
              </a:ext>
            </a:extLst>
          </p:cNvPr>
          <p:cNvSpPr>
            <a:spLocks xmlns:a="http://schemas.openxmlformats.org/drawingml/2006/main" noGrp="1"/>
          </p:cNvSpPr>
          <p:nvPr/>
        </p:nvSpPr>
        <p:spPr>
          <a:xfrm xmlns:a="http://schemas.openxmlformats.org/drawingml/2006/main">
            <a:off x="685800" y="3295650"/>
            <a:ext cx="106203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Noto Sans"/>
                <a:ea typeface="Noto Sans"/>
                <a:cs typeface="Noto Sans"/>
              </a:defRPr>
            </a:pPr>
            <a:r>
              <a:rPr sz="2325" b="0">
                <a:solidFill>
                  <a:srgbClr val="FFFFFF"/>
                </a:solidFill>
                <a:latin typeface="Noto Sans"/>
                <a:ea typeface="Noto Sans"/>
                <a:cs typeface="Noto Sans"/>
              </a:rPr>
              <a:t>Measure missed actions, corrections, and preparation time.</a:t>
            </a:r>
          </a:p>
          <a:p xmlns:a="http://schemas.openxmlformats.org/drawingml/2006/main">
            <a:pPr>
              <a:defRPr sz="2325" b="0">
                <a:solidFill>
                  <a:srgbClr val="FFFFFF"/>
                </a:solidFill>
                <a:latin typeface="Noto Sans"/>
                <a:ea typeface="Noto Sans"/>
                <a:cs typeface="Noto Sans"/>
              </a:defRPr>
            </a:pPr>
            <a:r>
              <a:rPr sz="2325" b="0">
                <a:solidFill>
                  <a:srgbClr val="FFFFFF"/>
                </a:solidFill>
                <a:latin typeface="Noto Sans"/>
                <a:ea typeface="Noto Sans"/>
                <a:cs typeface="Noto Sans"/>
              </a:rPr>
              <a:t>Then track follow-up resolution under supervision.</a:t>
            </a:r>
          </a:p>
        </p:txBody>
      </p:sp>
      <p:sp>
        <p:nvSpPr>
          <p:cNvPr id="4" name="text-49">
            <a:extLst xmlns:a="http://schemas.openxmlformats.org/drawingml/2006/main">
              <a:ext uri="{FF2B5EF4-FFF2-40B4-BE49-F238E27FC236}">
                <a16:creationId xmlns:a16="http://schemas.microsoft.com/office/drawing/2014/main" id="{3AD313BB-F367-415A-8104-979F483B2226}"/>
              </a:ext>
            </a:extLst>
          </p:cNvPr>
          <p:cNvSpPr>
            <a:spLocks xmlns:a="http://schemas.openxmlformats.org/drawingml/2006/main" noGrp="1"/>
          </p:cNvSpPr>
          <p:nvPr/>
        </p:nvSpPr>
        <p:spPr>
          <a:xfrm xmlns:a="http://schemas.openxmlformats.org/drawingml/2006/main">
            <a:off x="685800" y="4810125"/>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DCE4EF"/>
                </a:solidFill>
                <a:latin typeface="Noto Sans"/>
                <a:ea typeface="Noto Sans"/>
                <a:cs typeface="Noto Sans"/>
              </a:defRPr>
            </a:pPr>
            <a:r>
              <a:rPr sz="1800" b="0">
                <a:solidFill>
                  <a:srgbClr val="DCE4EF"/>
                </a:solidFill>
                <a:latin typeface="Noto Sans"/>
                <a:ea typeface="Noto Sans"/>
                <a:cs typeface="Noto Sans"/>
              </a:rPr>
              <a:t>MVP for synthetic demonstration.</a:t>
            </a:r>
          </a:p>
          <a:p xmlns:a="http://schemas.openxmlformats.org/drawingml/2006/main">
            <a:pPr>
              <a:defRPr sz="1800" b="0">
                <a:solidFill>
                  <a:srgbClr val="DCE4EF"/>
                </a:solidFill>
                <a:latin typeface="Noto Sans"/>
                <a:ea typeface="Noto Sans"/>
                <a:cs typeface="Noto Sans"/>
              </a:defRPr>
            </a:pPr>
            <a:r>
              <a:rPr sz="1800" b="0">
                <a:solidFill>
                  <a:srgbClr val="DCE4EF"/>
                </a:solidFill>
                <a:latin typeface="Noto Sans"/>
                <a:ea typeface="Noto Sans"/>
                <a:cs typeface="Noto Sans"/>
              </a:rPr>
              <a:t>No clinical validation, EHR integration, or proven health benefit.</a:t>
            </a:r>
          </a:p>
        </p:txBody>
      </p:sp>
      <p:sp>
        <p:nvSpPr>
          <p:cNvPr id="5" name="text-50">
            <a:extLst xmlns:a="http://schemas.openxmlformats.org/drawingml/2006/main">
              <a:ext uri="{FF2B5EF4-FFF2-40B4-BE49-F238E27FC236}">
                <a16:creationId xmlns:a16="http://schemas.microsoft.com/office/drawing/2014/main" id="{A0BC45BF-03AD-4322-ABA3-A9B8240706B0}"/>
              </a:ext>
            </a:extLst>
          </p:cNvPr>
          <p:cNvSpPr>
            <a:spLocks xmlns:a="http://schemas.openxmlformats.org/drawingml/2006/main" noGrp="1"/>
          </p:cNvSpPr>
          <p:nvPr/>
        </p:nvSpPr>
        <p:spPr>
          <a:xfrm xmlns:a="http://schemas.openxmlformats.org/drawingml/2006/main">
            <a:off x="685800" y="6000750"/>
            <a:ext cx="809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C7F578"/>
                </a:solidFill>
                <a:latin typeface="Noto Sans"/>
                <a:ea typeface="Noto Sans"/>
                <a:cs typeface="Noto Sans"/>
              </a:defRPr>
            </a:pPr>
            <a:r>
              <a:rPr sz="1800" b="1">
                <a:solidFill>
                  <a:srgbClr val="C7F578"/>
                </a:solidFill>
                <a:latin typeface="Noto Sans"/>
                <a:ea typeface="Noto Sans"/>
                <a:cs typeface="Noto Sans"/>
              </a:rPr>
              <a:t>github.com/shi1720/UnivaBio</a:t>
            </a:r>
          </a:p>
        </p:txBody>
      </p:sp>
    </p:spTree>
    <p:extLst>
      <p:ext uri="{BB962C8B-B14F-4D97-AF65-F5344CB8AC3E}">
        <p14:creationId xmlns:p14="http://schemas.microsoft.com/office/powerpoint/2010/main" val="6597110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2026-09-15T16:11:07.2380000Z</dcterms:created>
  <dcterms:modified xsi:type="dcterms:W3CDTF">2026-09-15T16:11:07.2380000Z</dcterms:modified>
</coreProperties>
</file>