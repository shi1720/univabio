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38ce4263014b54" /><Relationship Type="http://schemas.openxmlformats.org/officeDocument/2006/relationships/extended-properties" Target="/docProps/app.xml" Id="Re17d1b300c934e2a" /><Relationship Type="http://schemas.openxmlformats.org/officeDocument/2006/relationships/officeDocument" Target="/ppt/presentation.xml" Id="R1ad186b7d3514a97" /></Relationships>
</file>

<file path=ppt/presentation.xml><?xml version="1.0" encoding="utf-8"?>
<p:presentation xmlns:p="http://schemas.openxmlformats.org/presentationml/2006/main">
  <p:sldMasterIdLst>
    <p:sldMasterId xmlns:r="http://schemas.openxmlformats.org/officeDocument/2006/relationships" id="2147483648" r:id="Rc025c0b442464c28"/>
  </p:sldMasterIdLst>
  <p:notesMasterIdLst>
    <p:notesMasterId xmlns:r="http://schemas.openxmlformats.org/officeDocument/2006/relationships" r:id="R192886f31aed44a9"/>
  </p:notesMasterIdLst>
  <p:sldIdLst>
    <p:sldId xmlns:r="http://schemas.openxmlformats.org/officeDocument/2006/relationships" id="256" r:id="R37ddd93316264e8c"/>
    <p:sldId xmlns:r="http://schemas.openxmlformats.org/officeDocument/2006/relationships" id="257" r:id="R7f268efa88c646ca"/>
    <p:sldId xmlns:r="http://schemas.openxmlformats.org/officeDocument/2006/relationships" id="258" r:id="Rc0e1826ea402485a"/>
    <p:sldId xmlns:r="http://schemas.openxmlformats.org/officeDocument/2006/relationships" id="259" r:id="Rb855fd99364e49f9"/>
    <p:sldId xmlns:r="http://schemas.openxmlformats.org/officeDocument/2006/relationships" id="260" r:id="R1a38f055581c47e0"/>
    <p:sldId xmlns:r="http://schemas.openxmlformats.org/officeDocument/2006/relationships" id="261" r:id="Rff0920b9f292442b"/>
    <p:sldId xmlns:r="http://schemas.openxmlformats.org/officeDocument/2006/relationships" id="262" r:id="Rd0687f4a058043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1bd274609c4879" /><Relationship Type="http://schemas.openxmlformats.org/officeDocument/2006/relationships/slideMaster" Target="/ppt/slideMasters/slideMaster1.xml" Id="Rc025c0b442464c28" /><Relationship Type="http://schemas.openxmlformats.org/officeDocument/2006/relationships/notesMaster" Target="/ppt/notesMasters/notesMaster1.xml" Id="R192886f31aed44a9" /><Relationship Type="http://schemas.openxmlformats.org/officeDocument/2006/relationships/presProps" Target="/ppt/presProps.xml" Id="Rde9baeeb42ef4036" /><Relationship Type="http://schemas.openxmlformats.org/officeDocument/2006/relationships/tableStyles" Target="/ppt/tableStyles.xml" Id="R1f454b0c180c4a77" /><Relationship Type="http://schemas.openxmlformats.org/officeDocument/2006/relationships/slide" Target="/ppt/slides/slide1.xml" Id="R37ddd93316264e8c" /><Relationship Type="http://schemas.openxmlformats.org/officeDocument/2006/relationships/slide" Target="/ppt/slides/slide2.xml" Id="R7f268efa88c646ca" /><Relationship Type="http://schemas.openxmlformats.org/officeDocument/2006/relationships/slide" Target="/ppt/slides/slide3.xml" Id="Rc0e1826ea402485a" /><Relationship Type="http://schemas.openxmlformats.org/officeDocument/2006/relationships/slide" Target="/ppt/slides/slide4.xml" Id="Rb855fd99364e49f9" /><Relationship Type="http://schemas.openxmlformats.org/officeDocument/2006/relationships/slide" Target="/ppt/slides/slide5.xml" Id="R1a38f055581c47e0" /><Relationship Type="http://schemas.openxmlformats.org/officeDocument/2006/relationships/slide" Target="/ppt/slides/slide6.xml" Id="Rff0920b9f292442b" /><Relationship Type="http://schemas.openxmlformats.org/officeDocument/2006/relationships/slide" Target="/ppt/slides/slide7.xml" Id="Rd0687f4a058043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12ecc6004a40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fdabbf47174ac9" /><Relationship Type="http://schemas.openxmlformats.org/officeDocument/2006/relationships/notesMaster" Target="/ppt/notesMasters/notesMaster1.xml" Id="R0ee4c2e0d5f745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54bc0abcb84fad" /><Relationship Type="http://schemas.openxmlformats.org/officeDocument/2006/relationships/notesMaster" Target="/ppt/notesMasters/notesMaster1.xml" Id="Rcc852c29ce274b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0d29118fbf4919" /><Relationship Type="http://schemas.openxmlformats.org/officeDocument/2006/relationships/notesMaster" Target="/ppt/notesMasters/notesMaster1.xml" Id="R928e1a1bbb3642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ec41a4bf8f48f2" /><Relationship Type="http://schemas.openxmlformats.org/officeDocument/2006/relationships/notesMaster" Target="/ppt/notesMasters/notesMaster1.xml" Id="Rd4e516c16ff448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bd18902f294d2d" /><Relationship Type="http://schemas.openxmlformats.org/officeDocument/2006/relationships/notesMaster" Target="/ppt/notesMasters/notesMaster1.xml" Id="R6cef8ccc5d0343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5b727ecc16435f" /><Relationship Type="http://schemas.openxmlformats.org/officeDocument/2006/relationships/notesMaster" Target="/ppt/notesMasters/notesMaster1.xml" Id="R1df78d1522e24d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e3b13991b7422f" /><Relationship Type="http://schemas.openxmlformats.org/officeDocument/2006/relationships/notesMaster" Target="/ppt/notesMasters/notesMaster1.xml" Id="R948c9cba135940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Looplight is Shivam Gupta's UnivaBio project, built with AI-assisted development. This is a prototype tested with synthetic data. Demonstration records are fictional. The final Firebase deployment URL and screenshots were supplied by the build owner. Do not claim clinical validation or proven health benefit.</a:t>
            </a:r>
          </a:p>
          <a:p xmlns:a="http://schemas.openxmlformats.org/drawingml/2006/main">
            <a:r>
              <a:t/>
            </a:r>
          </a:p>
          <a:p xmlns:a="http://schemas.openxmlformats.org/drawingml/2006/main">
            <a:r>
              <a:t>Release status: ready. The build owner reports 57 live Firebase checks passed on synthetic records, with owner isolation and persistence verified. Google sign-in and an edited demo surviving account save and refresh passed GUI checks. Additional UI review continues. These checks are not clinical validation or a guarantee that all defects have been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Roy CL et al. Patient safety concerns arising from test results that return after hospital discharge. Ann Intern Med. 2005. https://pubmed.ncbi.nlm.nih.gov/16027454/ . The discharges were in 2004 at two academic hospitals. This is historical workflow context, not today's global prevalence. The 2025 SAFER Test Results Reporting and Follow-Up guide provides additional workflow context: https://healthit.gov/resources/2025-safer-guide-test-results-reporting-and-follow-up/ . Neither source endorses Looplight or establishes its benefit.</a:t>
            </a:r>
          </a:p>
          <a:p xmlns:a="http://schemas.openxmlformats.org/drawingml/2006/main">
            <a:r>
              <a:t/>
            </a:r>
          </a:p>
          <a:p xmlns:a="http://schemas.openxmlformats.org/drawingml/2006/main">
            <a:r>
              <a:t>Release status: ready. The build owner reports 57 live Firebase checks passed on synthetic records, with owner isolation and persistence verified. Google sign-in and an edited demo surviving account save and refresh passed GUI checks. Additional UI review continues. These checks are not clinical validation or a guarantee that all defects have been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desktop and mobile captures show the real Firebase application using fictional Anita/Maya data. Original screenshot bytes are retained with editable native crops. The app accepts pasted text and text-based PDFs, exposes all source sentences, and requires task confirmation before tracking. The current demo can be saved to an account with its edits preserved. Imported PDF bytes are not retained; extracted text forms the source record. Final capture controls include Add discharge notes, Review the whole note, and the source-linked follow-up cards.</a:t>
            </a:r>
          </a:p>
          <a:p xmlns:a="http://schemas.openxmlformats.org/drawingml/2006/main">
            <a:r>
              <a:t/>
            </a:r>
          </a:p>
          <a:p xmlns:a="http://schemas.openxmlformats.org/drawingml/2006/main">
            <a:r>
              <a:t>Release status: ready. The build owner reports 57 live Firebase checks passed on synthetic records, with owner isolation and persistence verified. Google sign-in and an edited demo surviving account save and refresh passed GUI checks. Additional UI review continues. These checks are not clinical validation or a guarantee that all defects have been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Follow-up transition logic runs in the browser. Firestore rules validate ownership, immutable source fields, versions, and quotas; they do not independently validate the full follow-up transition workflow. The user records clinician review and outcome. A clinician name is not verified identity or signed attestation. A tracker is the person following up, not an assignment of clinical responsibility. The actual Firebase result-detail capture shows source evidence and unresolved details, not clinician-verified evidence.</a:t>
            </a:r>
          </a:p>
          <a:p xmlns:a="http://schemas.openxmlformats.org/drawingml/2006/main">
            <a:r>
              <a:t/>
            </a:r>
          </a:p>
          <a:p xmlns:a="http://schemas.openxmlformats.org/drawingml/2006/main">
            <a:r>
              <a:t>Release status: ready. The build owner reports 57 live Firebase checks passed on synthetic records, with owner isolation and persistence verified. Google sign-in and an edited demo surviving account save and refresh passed GUI checks. Additional UI review continues. These checks are not clinical validation or a guarantee that all defects have been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development report, not a new Firebase deployment benchmark: 20 synthetic document fixtures, 44 expected actions, 34 proposals, 33 matches. Precision 33/34 = 97.1%; recall 33/44 = 75%. The initial development result was 84.2% precision and 72.7% recall; fixes were evaluated on the same known fixtures. This is not an untouched holdout, clinician-annotated real-world evaluation, or evidence of health benefit. No model uplift over rules alone has been demonstrated. Separate classifier evidence, if judges ask: 225 original synthetic training examples, 50 separately authored synthetic challenge examples, 82% raw five-category accuracy, macro F1 about 0.816, 44/50 abstentions. Do not conflate sentence classification with document-level extraction or clinical safety. Firebase deployment checks are separate from this historical extraction evaluation.</a:t>
            </a:r>
          </a:p>
          <a:p xmlns:a="http://schemas.openxmlformats.org/drawingml/2006/main">
            <a:r>
              <a:t/>
            </a:r>
          </a:p>
          <a:p xmlns:a="http://schemas.openxmlformats.org/drawingml/2006/main">
            <a:r>
              <a:t>Release status: ready. The build owner reports 57 live Firebase checks passed on synthetic records, with owner isolation and persistence verified. Google sign-in and an edited demo surviving account save and refresh passed GUI checks. Additional UI review continues. These checks are not clinical validation or a guarantee that all defects have been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price and savings inputs are hypotheses, not customer research. $149 per coordinator account/month for 100 episodes is a proposed experiment. No revenue, willingness-to-pay evidence, customer validation, or observed time saving is claimed. Five minutes x 100 / 60 x $35 = $291.67 before review and implementation costs. Inference runs in the browser without a paid model API; hosting, storage, support, security review, clinical governance, and bandwidth remain costs. Shared team workflows are future work. Related products include SeamlessMD, Memora/Commure, Eon, and care-management platforms. Source grounding alone is not a demonstrated moat.</a:t>
            </a:r>
          </a:p>
          <a:p xmlns:a="http://schemas.openxmlformats.org/drawingml/2006/main">
            <a:r>
              <a:t/>
            </a:r>
          </a:p>
          <a:p xmlns:a="http://schemas.openxmlformats.org/drawingml/2006/main">
            <a:r>
              <a:t>Release status: ready. The build owner reports 57 live Firebase checks passed on synthetic records, with owner isolation and persistence verified. Google sign-in and an edited demo surviving account save and refresh passed GUI checks. Additional UI review continues. These checks are not clinical validation or a guarantee that all defects have been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Firebase Hosting, Firebase Authentication, and Cloud Firestore replace the previous hosting/account stack. Model inference, task extraction, and workflow transitions execute in the browser. Firestore security rules enforce ownership, immutable source fields, versions, and quotas. They do not provide independent server-side clinical transition validation. The current demo-save flow preserves edits in the account. The build owner supplied 57 passed live Firebase checks and verified owner isolation and persistence. Google sign-in and edited-demo account-save persistence were verified in the GUI. Additional UI review continues. No flawless-operation claim is made. Proposed next work is a governed retrospective review with clinician annotation, followed by a supervised pilot. A small pilot cannot prove a causal reduction in readmissions.</a:t>
            </a:r>
          </a:p>
          <a:p xmlns:a="http://schemas.openxmlformats.org/drawingml/2006/main">
            <a:r>
              <a:t/>
            </a:r>
          </a:p>
          <a:p xmlns:a="http://schemas.openxmlformats.org/drawingml/2006/main">
            <a:r>
              <a:t>Release status: ready. The build owner reports 57 live Firebase checks passed on synthetic records, with owner isolation and persistence verified. Google sign-in and an edited demo surviving account save and refresh passed GUI checks. Additional UI review continues. These checks are not clinical validation or a guarantee that all defects have been found.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a33b805e9445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8ba908e14f46ae" /><Relationship Type="http://schemas.openxmlformats.org/officeDocument/2006/relationships/slideLayout" Target="/ppt/slideLayouts/slideLayout1.xml" Id="R3d36bf3ddd5d44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36bf3ddd5d44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e886c46380405f" /><Relationship Type="http://schemas.openxmlformats.org/officeDocument/2006/relationships/notesSlide" Target="/ppt/notesSlides/notesSlide1.xml" Id="Rb414195c3a2d4e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1626d04fb94713" /><Relationship Type="http://schemas.openxmlformats.org/officeDocument/2006/relationships/notesSlide" Target="/ppt/notesSlides/notesSlide2.xml" Id="R1b9a5de2ae224e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60e4ad8d38443a" /><Relationship Type="http://schemas.openxmlformats.org/officeDocument/2006/relationships/image" Target="/ppt/media/image.jpeg" Id="R0421df023d9c4906" /><Relationship Type="http://schemas.openxmlformats.org/officeDocument/2006/relationships/image" Target="/ppt/media/image2.jpeg" Id="Rb8fa6a03084549ba" /><Relationship Type="http://schemas.openxmlformats.org/officeDocument/2006/relationships/notesSlide" Target="/ppt/notesSlides/notesSlide3.xml" Id="R3c2227273bf44d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2d10309aee44fd" /><Relationship Type="http://schemas.openxmlformats.org/officeDocument/2006/relationships/image" Target="/ppt/media/image3.jpeg" Id="R27ccfbbf9e9945a0" /><Relationship Type="http://schemas.openxmlformats.org/officeDocument/2006/relationships/notesSlide" Target="/ppt/notesSlides/notesSlide4.xml" Id="R3b52b6c4fbae49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5cffe2f0514773" /><Relationship Type="http://schemas.openxmlformats.org/officeDocument/2006/relationships/notesSlide" Target="/ppt/notesSlides/notesSlide5.xml" Id="R28433619c5364d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dedfc2e7d54f02" /><Relationship Type="http://schemas.openxmlformats.org/officeDocument/2006/relationships/notesSlide" Target="/ppt/notesSlides/notesSlide6.xml" Id="R69cf0b7c8d674f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e3072dff6a442a" /><Relationship Type="http://schemas.openxmlformats.org/officeDocument/2006/relationships/notesSlide" Target="/ppt/notesSlides/notesSlide7.xml" Id="Ra64594123abe4442" /></Relationships>
</file>

<file path=ppt/slides/slide1.xml><?xml version="1.0" encoding="utf-8"?>
<p:sld xmlns:p="http://schemas.openxmlformats.org/presentationml/2006/main">
  <p:cSld>
    <p:bg>
      <p:bgPr>
        <a:solidFill xmlns:a="http://schemas.openxmlformats.org/drawingml/2006/main">
          <a:srgbClr val="102238"/>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14B185A3-639A-410C-AE2D-E8F77221674C}"/>
              </a:ext>
            </a:extLst>
          </p:cNvPr>
          <p:cNvSpPr>
            <a:spLocks xmlns:a="http://schemas.openxmlformats.org/drawingml/2006/main" noGrp="1"/>
          </p:cNvSpPr>
          <p:nvPr/>
        </p:nvSpPr>
        <p:spPr>
          <a:xfrm xmlns:a="http://schemas.openxmlformats.org/drawingml/2006/main">
            <a:off x="685800" y="552450"/>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C7F578"/>
                </a:solidFill>
                <a:latin typeface="Noto Sans"/>
                <a:ea typeface="Noto Sans"/>
                <a:cs typeface="Noto Sans"/>
              </a:defRPr>
            </a:pPr>
            <a:r>
              <a:rPr sz="2175" b="1">
                <a:solidFill>
                  <a:srgbClr val="C7F578"/>
                </a:solidFill>
                <a:latin typeface="Noto Sans"/>
                <a:ea typeface="Noto Sans"/>
                <a:cs typeface="Noto Sans"/>
              </a:rPr>
              <a:t>LOOPLIGHT</a:t>
            </a:r>
          </a:p>
        </p:txBody>
      </p:sp>
      <p:sp>
        <p:nvSpPr>
          <p:cNvPr id="2" name="text-2">
            <a:extLst xmlns:a="http://schemas.openxmlformats.org/drawingml/2006/main">
              <a:ext uri="{FF2B5EF4-FFF2-40B4-BE49-F238E27FC236}">
                <a16:creationId xmlns:a16="http://schemas.microsoft.com/office/drawing/2014/main" id="{00A20B2B-6FB3-4111-BF36-0461AFE9610F}"/>
              </a:ext>
            </a:extLst>
          </p:cNvPr>
          <p:cNvSpPr>
            <a:spLocks xmlns:a="http://schemas.openxmlformats.org/drawingml/2006/main" noGrp="1"/>
          </p:cNvSpPr>
          <p:nvPr/>
        </p:nvSpPr>
        <p:spPr>
          <a:xfrm xmlns:a="http://schemas.openxmlformats.org/drawingml/2006/main">
            <a:off x="647700" y="1809750"/>
            <a:ext cx="10820400" cy="2066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300" b="1">
                <a:solidFill>
                  <a:srgbClr val="FFFFFF"/>
                </a:solidFill>
                <a:latin typeface="Noto Sans"/>
                <a:ea typeface="Noto Sans"/>
                <a:cs typeface="Noto Sans"/>
              </a:defRPr>
            </a:pPr>
            <a:r>
              <a:rPr sz="6300" b="1">
                <a:solidFill>
                  <a:srgbClr val="FFFFFF"/>
                </a:solidFill>
                <a:latin typeface="Noto Sans"/>
                <a:ea typeface="Noto Sans"/>
                <a:cs typeface="Noto Sans"/>
              </a:rPr>
              <a:t>The next step,</a:t>
            </a:r>
          </a:p>
          <a:p xmlns:a="http://schemas.openxmlformats.org/drawingml/2006/main">
            <a:pPr>
              <a:defRPr sz="6300" b="1">
                <a:solidFill>
                  <a:srgbClr val="FFFFFF"/>
                </a:solidFill>
                <a:latin typeface="Noto Sans"/>
                <a:ea typeface="Noto Sans"/>
                <a:cs typeface="Noto Sans"/>
              </a:defRPr>
            </a:pPr>
            <a:r>
              <a:rPr sz="6300" b="1">
                <a:solidFill>
                  <a:srgbClr val="FFFFFF"/>
                </a:solidFill>
                <a:latin typeface="Noto Sans"/>
                <a:ea typeface="Noto Sans"/>
                <a:cs typeface="Noto Sans"/>
              </a:rPr>
              <a:t>accounted for.</a:t>
            </a:r>
          </a:p>
        </p:txBody>
      </p:sp>
      <p:sp>
        <p:nvSpPr>
          <p:cNvPr id="3" name="text-3">
            <a:extLst xmlns:a="http://schemas.openxmlformats.org/drawingml/2006/main">
              <a:ext uri="{FF2B5EF4-FFF2-40B4-BE49-F238E27FC236}">
                <a16:creationId xmlns:a16="http://schemas.microsoft.com/office/drawing/2014/main" id="{3C5E92A1-744F-484B-BA2E-A10A8D2186B3}"/>
              </a:ext>
            </a:extLst>
          </p:cNvPr>
          <p:cNvSpPr>
            <a:spLocks xmlns:a="http://schemas.openxmlformats.org/drawingml/2006/main" noGrp="1"/>
          </p:cNvSpPr>
          <p:nvPr/>
        </p:nvSpPr>
        <p:spPr>
          <a:xfrm xmlns:a="http://schemas.openxmlformats.org/drawingml/2006/main">
            <a:off x="685800" y="4314825"/>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FFFFFF"/>
                </a:solidFill>
                <a:latin typeface="Noto Sans"/>
                <a:ea typeface="Noto Sans"/>
                <a:cs typeface="Noto Sans"/>
              </a:defRPr>
            </a:pPr>
            <a:r>
              <a:rPr sz="2625" b="0">
                <a:solidFill>
                  <a:srgbClr val="FFFFFF"/>
                </a:solidFill>
                <a:latin typeface="Noto Sans"/>
                <a:ea typeface="Noto Sans"/>
                <a:cs typeface="Noto Sans"/>
              </a:rPr>
              <a:t>A follow-up ledger for the days after discharge.</a:t>
            </a:r>
          </a:p>
        </p:txBody>
      </p:sp>
      <p:sp>
        <p:nvSpPr>
          <p:cNvPr id="4" name="text-4">
            <a:extLst xmlns:a="http://schemas.openxmlformats.org/drawingml/2006/main">
              <a:ext uri="{FF2B5EF4-FFF2-40B4-BE49-F238E27FC236}">
                <a16:creationId xmlns:a16="http://schemas.microsoft.com/office/drawing/2014/main" id="{3144A68F-CEE0-44C0-8FB7-88F5FFE30229}"/>
              </a:ext>
            </a:extLst>
          </p:cNvPr>
          <p:cNvSpPr>
            <a:spLocks xmlns:a="http://schemas.openxmlformats.org/drawingml/2006/main" noGrp="1"/>
          </p:cNvSpPr>
          <p:nvPr/>
        </p:nvSpPr>
        <p:spPr>
          <a:xfrm xmlns:a="http://schemas.openxmlformats.org/drawingml/2006/main">
            <a:off x="685800" y="5219700"/>
            <a:ext cx="9906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C7F578"/>
                </a:solidFill>
                <a:latin typeface="Noto Sans"/>
                <a:ea typeface="Noto Sans"/>
                <a:cs typeface="Noto Sans"/>
              </a:defRPr>
            </a:pPr>
            <a:r>
              <a:rPr sz="2025" b="1">
                <a:solidFill>
                  <a:srgbClr val="C7F578"/>
                </a:solidFill>
                <a:latin typeface="Noto Sans"/>
                <a:ea typeface="Noto Sans"/>
                <a:cs typeface="Noto Sans"/>
              </a:rPr>
              <a:t>looplight-care.web.app</a:t>
            </a:r>
          </a:p>
        </p:txBody>
      </p:sp>
      <p:sp>
        <p:nvSpPr>
          <p:cNvPr id="5" name="text-5">
            <a:extLst xmlns:a="http://schemas.openxmlformats.org/drawingml/2006/main">
              <a:ext uri="{FF2B5EF4-FFF2-40B4-BE49-F238E27FC236}">
                <a16:creationId xmlns:a16="http://schemas.microsoft.com/office/drawing/2014/main" id="{A3266F44-E523-4503-BAF7-8265BAF98E80}"/>
              </a:ext>
            </a:extLst>
          </p:cNvPr>
          <p:cNvSpPr>
            <a:spLocks xmlns:a="http://schemas.openxmlformats.org/drawingml/2006/main" noGrp="1"/>
          </p:cNvSpPr>
          <p:nvPr/>
        </p:nvSpPr>
        <p:spPr>
          <a:xfrm xmlns:a="http://schemas.openxmlformats.org/drawingml/2006/main">
            <a:off x="685800" y="58959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FFFFFF"/>
                </a:solidFill>
                <a:latin typeface="Noto Sans"/>
                <a:ea typeface="Noto Sans"/>
                <a:cs typeface="Noto Sans"/>
              </a:defRPr>
            </a:pPr>
            <a:r>
              <a:rPr sz="1725" b="1">
                <a:solidFill>
                  <a:srgbClr val="FFFFFF"/>
                </a:solidFill>
                <a:latin typeface="Noto Sans"/>
                <a:ea typeface="Noto Sans"/>
                <a:cs typeface="Noto Sans"/>
              </a:rPr>
              <a:t>Shivam Gupta</a:t>
            </a:r>
          </a:p>
        </p:txBody>
      </p:sp>
      <p:sp>
        <p:nvSpPr>
          <p:cNvPr id="6" name="text-6">
            <a:extLst xmlns:a="http://schemas.openxmlformats.org/drawingml/2006/main">
              <a:ext uri="{FF2B5EF4-FFF2-40B4-BE49-F238E27FC236}">
                <a16:creationId xmlns:a16="http://schemas.microsoft.com/office/drawing/2014/main" id="{5B352C17-9A83-4C7C-AEF1-010D8E8D3C32}"/>
              </a:ext>
            </a:extLst>
          </p:cNvPr>
          <p:cNvSpPr>
            <a:spLocks xmlns:a="http://schemas.openxmlformats.org/drawingml/2006/main" noGrp="1"/>
          </p:cNvSpPr>
          <p:nvPr/>
        </p:nvSpPr>
        <p:spPr>
          <a:xfrm xmlns:a="http://schemas.openxmlformats.org/drawingml/2006/main">
            <a:off x="685800" y="62293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DCE4EF"/>
                </a:solidFill>
                <a:latin typeface="Noto Sans"/>
                <a:ea typeface="Noto Sans"/>
                <a:cs typeface="Noto Sans"/>
              </a:defRPr>
            </a:pPr>
            <a:r>
              <a:rPr sz="1350" b="0">
                <a:solidFill>
                  <a:srgbClr val="DCE4EF"/>
                </a:solidFill>
                <a:latin typeface="Noto Sans"/>
                <a:ea typeface="Noto Sans"/>
                <a:cs typeface="Noto Sans"/>
              </a:rPr>
              <a:t>Founder &amp; builder / Built with AI-assisted development</a:t>
            </a:r>
          </a:p>
        </p:txBody>
      </p:sp>
    </p:spTree>
    <p:extLst>
      <p:ext uri="{BB962C8B-B14F-4D97-AF65-F5344CB8AC3E}">
        <p14:creationId xmlns:p14="http://schemas.microsoft.com/office/powerpoint/2010/main" val="9178484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7">
            <a:extLst xmlns:a="http://schemas.openxmlformats.org/drawingml/2006/main">
              <a:ext uri="{FF2B5EF4-FFF2-40B4-BE49-F238E27FC236}">
                <a16:creationId xmlns:a16="http://schemas.microsoft.com/office/drawing/2014/main" id="{F44BF6D3-956A-47F2-ADB1-A6BE1AE1ACF6}"/>
              </a:ext>
            </a:extLst>
          </p:cNvPr>
          <p:cNvSpPr>
            <a:spLocks xmlns:a="http://schemas.openxmlformats.org/drawingml/2006/main" noGrp="1"/>
          </p:cNvSpPr>
          <p:nvPr/>
        </p:nvSpPr>
        <p:spPr>
          <a:xfrm xmlns:a="http://schemas.openxmlformats.org/drawingml/2006/main">
            <a:off x="685800" y="5715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02238"/>
                </a:solidFill>
                <a:latin typeface="Noto Sans"/>
                <a:ea typeface="Noto Sans"/>
                <a:cs typeface="Noto Sans"/>
              </a:defRPr>
            </a:pPr>
            <a:r>
              <a:rPr sz="3675" b="1">
                <a:solidFill>
                  <a:srgbClr val="102238"/>
                </a:solidFill>
                <a:latin typeface="Noto Sans"/>
                <a:ea typeface="Noto Sans"/>
                <a:cs typeface="Noto Sans"/>
              </a:rPr>
              <a:t>Care continues after discharge</a:t>
            </a:r>
          </a:p>
        </p:txBody>
      </p:sp>
      <p:sp>
        <p:nvSpPr>
          <p:cNvPr id="2" name="text-8">
            <a:extLst xmlns:a="http://schemas.openxmlformats.org/drawingml/2006/main">
              <a:ext uri="{FF2B5EF4-FFF2-40B4-BE49-F238E27FC236}">
                <a16:creationId xmlns:a16="http://schemas.microsoft.com/office/drawing/2014/main" id="{ECA072D5-9872-4CB1-A368-28446D0EC3C5}"/>
              </a:ext>
            </a:extLst>
          </p:cNvPr>
          <p:cNvSpPr>
            <a:spLocks xmlns:a="http://schemas.openxmlformats.org/drawingml/2006/main" noGrp="1"/>
          </p:cNvSpPr>
          <p:nvPr/>
        </p:nvSpPr>
        <p:spPr>
          <a:xfrm xmlns:a="http://schemas.openxmlformats.org/drawingml/2006/main">
            <a:off x="685800" y="2209800"/>
            <a:ext cx="5638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02238"/>
                </a:solidFill>
                <a:latin typeface="Noto Sans"/>
                <a:ea typeface="Noto Sans"/>
                <a:cs typeface="Noto Sans"/>
              </a:defRPr>
            </a:pPr>
            <a:r>
              <a:rPr sz="2925" b="1">
                <a:solidFill>
                  <a:srgbClr val="102238"/>
                </a:solidFill>
                <a:latin typeface="Noto Sans"/>
                <a:ea typeface="Noto Sans"/>
                <a:cs typeface="Noto Sans"/>
              </a:rPr>
              <a:t>Anita is home.</a:t>
            </a:r>
          </a:p>
          <a:p xmlns:a="http://schemas.openxmlformats.org/drawingml/2006/main">
            <a:pPr>
              <a:defRPr sz="2925" b="1">
                <a:solidFill>
                  <a:srgbClr val="102238"/>
                </a:solidFill>
                <a:latin typeface="Noto Sans"/>
                <a:ea typeface="Noto Sans"/>
                <a:cs typeface="Noto Sans"/>
              </a:defRPr>
            </a:pPr>
            <a:r>
              <a:rPr sz="2925" b="1">
                <a:solidFill>
                  <a:srgbClr val="102238"/>
                </a:solidFill>
                <a:latin typeface="Noto Sans"/>
                <a:ea typeface="Noto Sans"/>
                <a:cs typeface="Noto Sans"/>
              </a:rPr>
              <a:t>Maya has the document.</a:t>
            </a:r>
          </a:p>
          <a:p xmlns:a="http://schemas.openxmlformats.org/drawingml/2006/main">
            <a:pPr>
              <a:defRPr sz="2925" b="1">
                <a:solidFill>
                  <a:srgbClr val="102238"/>
                </a:solidFill>
                <a:latin typeface="Noto Sans"/>
                <a:ea typeface="Noto Sans"/>
                <a:cs typeface="Noto Sans"/>
              </a:defRPr>
            </a:pPr>
            <a:r>
              <a:rPr sz="2925" b="1">
                <a:solidFill>
                  <a:srgbClr val="102238"/>
                </a:solidFill>
                <a:latin typeface="Noto Sans"/>
                <a:ea typeface="Noto Sans"/>
                <a:cs typeface="Noto Sans"/>
              </a:rPr>
              <a:t>A result is still pending.</a:t>
            </a:r>
          </a:p>
        </p:txBody>
      </p:sp>
      <p:sp>
        <p:nvSpPr>
          <p:cNvPr id="3" name="text-9">
            <a:extLst xmlns:a="http://schemas.openxmlformats.org/drawingml/2006/main">
              <a:ext uri="{FF2B5EF4-FFF2-40B4-BE49-F238E27FC236}">
                <a16:creationId xmlns:a16="http://schemas.microsoft.com/office/drawing/2014/main" id="{468DAEBD-F937-49CD-969E-9264E7EE3A7E}"/>
              </a:ext>
            </a:extLst>
          </p:cNvPr>
          <p:cNvSpPr>
            <a:spLocks xmlns:a="http://schemas.openxmlformats.org/drawingml/2006/main" noGrp="1"/>
          </p:cNvSpPr>
          <p:nvPr/>
        </p:nvSpPr>
        <p:spPr>
          <a:xfrm xmlns:a="http://schemas.openxmlformats.org/drawingml/2006/main">
            <a:off x="685800" y="4676775"/>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A687C"/>
                </a:solidFill>
                <a:latin typeface="Noto Sans"/>
                <a:ea typeface="Noto Sans"/>
                <a:cs typeface="Noto Sans"/>
              </a:defRPr>
            </a:pPr>
            <a:r>
              <a:rPr sz="1950" b="0">
                <a:solidFill>
                  <a:srgbClr val="5A687C"/>
                </a:solidFill>
                <a:latin typeface="Noto Sans"/>
                <a:ea typeface="Noto Sans"/>
                <a:cs typeface="Noto Sans"/>
              </a:rPr>
              <a:t>Fictional family.</a:t>
            </a:r>
          </a:p>
          <a:p xmlns:a="http://schemas.openxmlformats.org/drawingml/2006/main">
            <a:pPr>
              <a:defRPr sz="1950" b="0">
                <a:solidFill>
                  <a:srgbClr val="5A687C"/>
                </a:solidFill>
                <a:latin typeface="Noto Sans"/>
                <a:ea typeface="Noto Sans"/>
                <a:cs typeface="Noto Sans"/>
              </a:defRPr>
            </a:pPr>
            <a:r>
              <a:rPr sz="1950" b="0">
                <a:solidFill>
                  <a:srgbClr val="5A687C"/>
                </a:solidFill>
                <a:latin typeface="Noto Sans"/>
                <a:ea typeface="Noto Sans"/>
                <a:cs typeface="Noto Sans"/>
              </a:rPr>
              <a:t>A real coordination problem.</a:t>
            </a:r>
          </a:p>
        </p:txBody>
      </p:sp>
      <p:sp>
        <p:nvSpPr>
          <p:cNvPr id="4" name="text-10">
            <a:extLst xmlns:a="http://schemas.openxmlformats.org/drawingml/2006/main">
              <a:ext uri="{FF2B5EF4-FFF2-40B4-BE49-F238E27FC236}">
                <a16:creationId xmlns:a16="http://schemas.microsoft.com/office/drawing/2014/main" id="{476C09B9-A275-4AA2-ADD2-BDDCA1F1E717}"/>
              </a:ext>
            </a:extLst>
          </p:cNvPr>
          <p:cNvSpPr>
            <a:spLocks xmlns:a="http://schemas.openxmlformats.org/drawingml/2006/main" noGrp="1"/>
          </p:cNvSpPr>
          <p:nvPr/>
        </p:nvSpPr>
        <p:spPr>
          <a:xfrm xmlns:a="http://schemas.openxmlformats.org/drawingml/2006/main">
            <a:off x="7239000" y="1933575"/>
            <a:ext cx="419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325" b="1">
                <a:solidFill>
                  <a:srgbClr val="315BDB"/>
                </a:solidFill>
                <a:latin typeface="Noto Sans"/>
                <a:ea typeface="Noto Sans"/>
                <a:cs typeface="Noto Sans"/>
              </a:defRPr>
            </a:pPr>
            <a:r>
              <a:rPr sz="8325" b="1">
                <a:solidFill>
                  <a:srgbClr val="315BDB"/>
                </a:solidFill>
                <a:latin typeface="Noto Sans"/>
                <a:ea typeface="Noto Sans"/>
                <a:cs typeface="Noto Sans"/>
              </a:rPr>
              <a:t>41%</a:t>
            </a:r>
          </a:p>
        </p:txBody>
      </p:sp>
      <p:sp>
        <p:nvSpPr>
          <p:cNvPr id="5" name="text-11">
            <a:extLst xmlns:a="http://schemas.openxmlformats.org/drawingml/2006/main">
              <a:ext uri="{FF2B5EF4-FFF2-40B4-BE49-F238E27FC236}">
                <a16:creationId xmlns:a16="http://schemas.microsoft.com/office/drawing/2014/main" id="{5DA316FF-33E3-44F3-8280-4DDE6CD09C7C}"/>
              </a:ext>
            </a:extLst>
          </p:cNvPr>
          <p:cNvSpPr>
            <a:spLocks xmlns:a="http://schemas.openxmlformats.org/drawingml/2006/main" noGrp="1"/>
          </p:cNvSpPr>
          <p:nvPr/>
        </p:nvSpPr>
        <p:spPr>
          <a:xfrm xmlns:a="http://schemas.openxmlformats.org/drawingml/2006/main">
            <a:off x="7277100" y="3324225"/>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02238"/>
                </a:solidFill>
                <a:latin typeface="Noto Sans"/>
                <a:ea typeface="Noto Sans"/>
                <a:cs typeface="Noto Sans"/>
              </a:defRPr>
            </a:pPr>
            <a:r>
              <a:rPr sz="2325" b="1">
                <a:solidFill>
                  <a:srgbClr val="102238"/>
                </a:solidFill>
                <a:latin typeface="Noto Sans"/>
                <a:ea typeface="Noto Sans"/>
                <a:cs typeface="Noto Sans"/>
              </a:rPr>
              <a:t>had results return</a:t>
            </a:r>
          </a:p>
          <a:p xmlns:a="http://schemas.openxmlformats.org/drawingml/2006/main">
            <a:pPr>
              <a:defRPr sz="2325" b="1">
                <a:solidFill>
                  <a:srgbClr val="102238"/>
                </a:solidFill>
                <a:latin typeface="Noto Sans"/>
                <a:ea typeface="Noto Sans"/>
                <a:cs typeface="Noto Sans"/>
              </a:defRPr>
            </a:pPr>
            <a:r>
              <a:rPr sz="2325" b="1">
                <a:solidFill>
                  <a:srgbClr val="102238"/>
                </a:solidFill>
                <a:latin typeface="Noto Sans"/>
                <a:ea typeface="Noto Sans"/>
                <a:cs typeface="Noto Sans"/>
              </a:rPr>
              <a:t>after discharge</a:t>
            </a:r>
          </a:p>
        </p:txBody>
      </p:sp>
      <p:sp>
        <p:nvSpPr>
          <p:cNvPr id="6" name="text-12">
            <a:extLst xmlns:a="http://schemas.openxmlformats.org/drawingml/2006/main">
              <a:ext uri="{FF2B5EF4-FFF2-40B4-BE49-F238E27FC236}">
                <a16:creationId xmlns:a16="http://schemas.microsoft.com/office/drawing/2014/main" id="{3DC30DFE-7A92-4172-8B7A-78785EEB68A8}"/>
              </a:ext>
            </a:extLst>
          </p:cNvPr>
          <p:cNvSpPr>
            <a:spLocks xmlns:a="http://schemas.openxmlformats.org/drawingml/2006/main" noGrp="1"/>
          </p:cNvSpPr>
          <p:nvPr/>
        </p:nvSpPr>
        <p:spPr>
          <a:xfrm xmlns:a="http://schemas.openxmlformats.org/drawingml/2006/main">
            <a:off x="7277100" y="4448175"/>
            <a:ext cx="4095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A687C"/>
                </a:solidFill>
                <a:latin typeface="Noto Sans"/>
                <a:ea typeface="Noto Sans"/>
                <a:cs typeface="Noto Sans"/>
              </a:defRPr>
            </a:pPr>
            <a:r>
              <a:rPr sz="1650" b="0">
                <a:solidFill>
                  <a:srgbClr val="5A687C"/>
                </a:solidFill>
                <a:latin typeface="Noto Sans"/>
                <a:ea typeface="Noto Sans"/>
                <a:cs typeface="Noto Sans"/>
              </a:rPr>
              <a:t>2005 study of 2,644 discharges</a:t>
            </a:r>
          </a:p>
          <a:p xmlns:a="http://schemas.openxmlformats.org/drawingml/2006/main">
            <a:pPr>
              <a:defRPr sz="1650" b="0">
                <a:solidFill>
                  <a:srgbClr val="5A687C"/>
                </a:solidFill>
                <a:latin typeface="Noto Sans"/>
                <a:ea typeface="Noto Sans"/>
                <a:cs typeface="Noto Sans"/>
              </a:defRPr>
            </a:pPr>
            <a:r>
              <a:rPr sz="1650" b="0">
                <a:solidFill>
                  <a:srgbClr val="5A687C"/>
                </a:solidFill>
                <a:latin typeface="Noto Sans"/>
                <a:ea typeface="Noto Sans"/>
                <a:cs typeface="Noto Sans"/>
              </a:rPr>
              <a:t>at two academic hospitals.</a:t>
            </a:r>
          </a:p>
          <a:p xmlns:a="http://schemas.openxmlformats.org/drawingml/2006/main">
            <a:pPr>
              <a:defRPr sz="1650" b="0">
                <a:solidFill>
                  <a:srgbClr val="5A687C"/>
                </a:solidFill>
                <a:latin typeface="Noto Sans"/>
                <a:ea typeface="Noto Sans"/>
                <a:cs typeface="Noto Sans"/>
              </a:defRPr>
            </a:pPr>
            <a:r>
              <a:rPr sz="1650" b="0">
                <a:solidFill>
                  <a:srgbClr val="5A687C"/>
                </a:solidFill>
                <a:latin typeface="Noto Sans"/>
                <a:ea typeface="Noto Sans"/>
                <a:cs typeface="Noto Sans"/>
              </a:rPr>
              <a:t>A historical finding, not a current</a:t>
            </a:r>
          </a:p>
          <a:p xmlns:a="http://schemas.openxmlformats.org/drawingml/2006/main">
            <a:pPr>
              <a:defRPr sz="1650" b="0">
                <a:solidFill>
                  <a:srgbClr val="5A687C"/>
                </a:solidFill>
                <a:latin typeface="Noto Sans"/>
                <a:ea typeface="Noto Sans"/>
                <a:cs typeface="Noto Sans"/>
              </a:defRPr>
            </a:pPr>
            <a:r>
              <a:rPr sz="1650" b="0">
                <a:solidFill>
                  <a:srgbClr val="5A687C"/>
                </a:solidFill>
                <a:latin typeface="Noto Sans"/>
                <a:ea typeface="Noto Sans"/>
                <a:cs typeface="Noto Sans"/>
              </a:rPr>
              <a:t>global prevalence estimate.</a:t>
            </a:r>
          </a:p>
        </p:txBody>
      </p:sp>
      <p:sp>
        <p:nvSpPr>
          <p:cNvPr id="7" name="text-13">
            <a:extLst xmlns:a="http://schemas.openxmlformats.org/drawingml/2006/main">
              <a:ext uri="{FF2B5EF4-FFF2-40B4-BE49-F238E27FC236}">
                <a16:creationId xmlns:a16="http://schemas.microsoft.com/office/drawing/2014/main" id="{FB6CB549-5597-4271-AAB3-DB02D7216772}"/>
              </a:ext>
            </a:extLst>
          </p:cNvPr>
          <p:cNvSpPr>
            <a:spLocks xmlns:a="http://schemas.openxmlformats.org/drawingml/2006/main" noGrp="1"/>
          </p:cNvSpPr>
          <p:nvPr/>
        </p:nvSpPr>
        <p:spPr>
          <a:xfrm xmlns:a="http://schemas.openxmlformats.org/drawingml/2006/main">
            <a:off x="685800" y="63817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A687C"/>
                </a:solidFill>
                <a:latin typeface="Noto Sans"/>
                <a:ea typeface="Noto Sans"/>
                <a:cs typeface="Noto Sans"/>
              </a:defRPr>
            </a:pPr>
            <a:r>
              <a:rPr sz="1200" b="0">
                <a:solidFill>
                  <a:srgbClr val="5A687C"/>
                </a:solidFill>
                <a:latin typeface="Noto Sans"/>
                <a:ea typeface="Noto Sans"/>
                <a:cs typeface="Noto Sans"/>
              </a:rPr>
              <a:t>Looplight / 02</a:t>
            </a:r>
          </a:p>
        </p:txBody>
      </p:sp>
    </p:spTree>
    <p:extLst>
      <p:ext uri="{BB962C8B-B14F-4D97-AF65-F5344CB8AC3E}">
        <p14:creationId xmlns:p14="http://schemas.microsoft.com/office/powerpoint/2010/main" val="1297317877"/>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8" name="text-14">
            <a:extLst>
              <a:ext uri="{FF2B5EF4-FFF2-40B4-BE49-F238E27FC236}">
                <ns2:creationId id="{892C444C-7505-4B45-9E34-615EDE39676E}"/>
              </a:ext>
            </a:extLst>
          </p:cNvPr>
          <p:cNvSpPr>
            <a:spLocks noGrp="1"/>
          </p:cNvSpPr>
          <p:nvPr/>
        </p:nvSpPr>
        <p:spPr>
          <a:xfrm>
            <a:off x="685800" y="571500"/>
            <a:ext cx="10820400" cy="1104900"/>
          </a:xfrm>
          <a:prstGeom prst="rect">
            <a:avLst/>
          </a:prstGeom>
          <a:noFill/>
          <a:ln w="0">
            <a:noFill/>
          </a:ln>
        </p:spPr>
        <p:txBody>
          <a:bodyPr wrap="square" lIns="0" tIns="0" rIns="0" bIns="0" anchor="t">
            <a:noAutofit/>
          </a:bodyPr>
          <a:lstStyle/>
          <a:p>
            <a:pPr>
              <a:defRPr sz="3675" b="1">
                <a:solidFill>
                  <a:srgbClr val="102238"/>
                </a:solidFill>
                <a:latin typeface="Noto Sans"/>
                <a:ea typeface="Noto Sans"/>
                <a:cs typeface="Noto Sans"/>
              </a:defRPr>
            </a:pPr>
            <a:r>
              <a:rPr sz="3675" b="1">
                <a:solidFill>
                  <a:srgbClr val="102238"/>
                </a:solidFill>
                <a:latin typeface="Noto Sans"/>
                <a:ea typeface="Noto Sans"/>
                <a:cs typeface="Noto Sans"/>
              </a:rPr>
              <a:t>A plan with the source still attached</a:t>
            </a:r>
          </a:p>
        </p:txBody>
      </p:sp>
      <p:sp>
        <p:nvSpPr>
          <p:cNvPr id="2" name="text-15">
            <a:extLst>
              <a:ext uri="{FF2B5EF4-FFF2-40B4-BE49-F238E27FC236}">
                <ns2:creationId id="{379A62B8-52E7-4BD2-A81D-FB2F012586B1}"/>
              </a:ext>
            </a:extLst>
          </p:cNvPr>
          <p:cNvSpPr>
            <a:spLocks noGrp="1"/>
          </p:cNvSpPr>
          <p:nvPr/>
        </p:nvSpPr>
        <p:spPr>
          <a:xfrm>
            <a:off x="685800" y="1571625"/>
            <a:ext cx="7810500" cy="400050"/>
          </a:xfrm>
          <a:prstGeom prst="rect">
            <a:avLst/>
          </a:prstGeom>
          <a:noFill/>
          <a:ln w="0">
            <a:noFill/>
          </a:ln>
        </p:spPr>
        <p:txBody>
          <a:bodyPr wrap="square" lIns="0" tIns="0" rIns="0" bIns="0" anchor="t">
            <a:noAutofit/>
          </a:bodyPr>
          <a:lstStyle/>
          <a:p>
            <a:pPr>
              <a:defRPr sz="1800" b="1">
                <a:solidFill>
                  <a:srgbClr val="102238"/>
                </a:solidFill>
                <a:latin typeface="Noto Sans"/>
                <a:ea typeface="Noto Sans"/>
                <a:cs typeface="Noto Sans"/>
              </a:defRPr>
            </a:pPr>
            <a:r>
              <a:rPr sz="1800" b="1">
                <a:solidFill>
                  <a:srgbClr val="102238"/>
                </a:solidFill>
                <a:latin typeface="Noto Sans"/>
                <a:ea typeface="Noto Sans"/>
                <a:cs typeface="Noto Sans"/>
              </a:rPr>
              <a:t>Inspect the original words.</a:t>
            </a:r>
          </a:p>
        </p:txBody>
      </p:sp>
      <p:sp>
        <p:nvSpPr>
          <p:cNvPr id="3" name="text-16">
            <a:extLst>
              <a:ext uri="{FF2B5EF4-FFF2-40B4-BE49-F238E27FC236}">
                <ns2:creationId id="{8F6B97AB-A1DD-4D1B-AAA3-D6930169E501}"/>
              </a:ext>
            </a:extLst>
          </p:cNvPr>
          <p:cNvSpPr>
            <a:spLocks noGrp="1"/>
          </p:cNvSpPr>
          <p:nvPr/>
        </p:nvSpPr>
        <p:spPr>
          <a:xfrm>
            <a:off x="9258300" y="1571625"/>
            <a:ext cx="2571750" cy="590550"/>
          </a:xfrm>
          <a:prstGeom prst="rect">
            <a:avLst/>
          </a:prstGeom>
          <a:noFill/>
          <a:ln w="0">
            <a:noFill/>
          </a:ln>
        </p:spPr>
        <p:txBody>
          <a:bodyPr wrap="square" lIns="0" tIns="0" rIns="0" bIns="0" anchor="t">
            <a:noAutofit/>
          </a:bodyPr>
          <a:lstStyle/>
          <a:p>
            <a:pPr>
              <a:defRPr sz="1650" b="1">
                <a:solidFill>
                  <a:srgbClr val="102238"/>
                </a:solidFill>
                <a:latin typeface="Noto Sans"/>
                <a:ea typeface="Noto Sans"/>
                <a:cs typeface="Noto Sans"/>
              </a:defRPr>
            </a:pPr>
            <a:r>
              <a:rPr sz="1650" b="1">
                <a:solidFill>
                  <a:srgbClr val="102238"/>
                </a:solidFill>
                <a:latin typeface="Noto Sans"/>
                <a:ea typeface="Noto Sans"/>
                <a:cs typeface="Noto Sans"/>
              </a:rPr>
              <a:t>On a smaller screen.</a:t>
            </a:r>
          </a:p>
        </p:txBody>
      </p:sp>
      <p:pic>
        <p:nvPicPr>
          <p:cNvPr id="11" name=""/>
          <p:cNvPicPr>
            <a:picLocks noChangeAspect="1"/>
          </p:cNvPicPr>
          <p:nvPr/>
        </p:nvPicPr>
        <p:blipFill>
          <a:blip r:embed="R0421df023d9c4906"/>
          <a:srcRect l="18056" t="45000" r="1389" b="0"/>
          <a:stretch/>
        </p:blipFill>
        <p:spPr>
          <a:xfrm>
            <a:off x="768927" y="2095500"/>
            <a:ext cx="7834745" cy="3714750"/>
          </a:xfrm>
          <a:prstGeom prst="rect">
            <a:avLst/>
          </a:prstGeom>
        </p:spPr>
      </p:pic>
      <p:pic>
        <p:nvPicPr>
          <p:cNvPr id="12" name=""/>
          <p:cNvPicPr>
            <a:picLocks noChangeAspect="1"/>
          </p:cNvPicPr>
          <p:nvPr/>
        </p:nvPicPr>
        <p:blipFill>
          <a:blip r:embed="Rb8fa6a03084549ba"/>
          <a:srcRect l="0" t="0" r="0" b="0"/>
          <a:stretch/>
        </p:blipFill>
        <p:spPr>
          <a:xfrm>
            <a:off x="9541556" y="2047875"/>
            <a:ext cx="1738538" cy="3762375"/>
          </a:xfrm>
          <a:prstGeom prst="rect">
            <a:avLst/>
          </a:prstGeom>
        </p:spPr>
      </p:pic>
      <p:sp>
        <p:nvSpPr>
          <p:cNvPr id="6" name="text-17">
            <a:extLst>
              <a:ext uri="{FF2B5EF4-FFF2-40B4-BE49-F238E27FC236}">
                <ns2:creationId id="{247217E4-C901-47AB-ADBF-09ED41277A1D}"/>
              </a:ext>
            </a:extLst>
          </p:cNvPr>
          <p:cNvSpPr>
            <a:spLocks noGrp="1"/>
          </p:cNvSpPr>
          <p:nvPr/>
        </p:nvSpPr>
        <p:spPr>
          <a:xfrm>
            <a:off x="685800" y="5962650"/>
            <a:ext cx="10668000" cy="352425"/>
          </a:xfrm>
          <a:prstGeom prst="rect">
            <a:avLst/>
          </a:prstGeom>
          <a:noFill/>
          <a:ln w="0">
            <a:noFill/>
          </a:ln>
        </p:spPr>
        <p:txBody>
          <a:bodyPr wrap="square" lIns="0" tIns="0" rIns="0" bIns="0" anchor="t">
            <a:noAutofit/>
          </a:bodyPr>
          <a:lstStyle/>
          <a:p>
            <a:pPr>
              <a:defRPr sz="1875" b="1">
                <a:solidFill>
                  <a:srgbClr val="102238"/>
                </a:solidFill>
                <a:latin typeface="Noto Sans"/>
                <a:ea typeface="Noto Sans"/>
                <a:cs typeface="Noto Sans"/>
              </a:defRPr>
            </a:pPr>
            <a:r>
              <a:rPr sz="1875" b="1">
                <a:solidFill>
                  <a:srgbClr val="102238"/>
                </a:solidFill>
                <a:latin typeface="Noto Sans"/>
                <a:ea typeface="Noto Sans"/>
                <a:cs typeface="Noto Sans"/>
              </a:rPr>
              <a:t>Review suggestions. Recover omissions. Name the tracker.</a:t>
            </a:r>
          </a:p>
        </p:txBody>
      </p:sp>
      <p:sp>
        <p:nvSpPr>
          <p:cNvPr id="7" name="text-18">
            <a:extLst>
              <a:ext uri="{FF2B5EF4-FFF2-40B4-BE49-F238E27FC236}">
                <ns2:creationId id="{E03E7337-45A1-4B48-9793-6904CBF6AFDF}"/>
              </a:ext>
            </a:extLst>
          </p:cNvPr>
          <p:cNvSpPr>
            <a:spLocks noGrp="1"/>
          </p:cNvSpPr>
          <p:nvPr/>
        </p:nvSpPr>
        <p:spPr>
          <a:xfrm>
            <a:off x="685800" y="6381750"/>
            <a:ext cx="7620000" cy="247650"/>
          </a:xfrm>
          <a:prstGeom prst="rect">
            <a:avLst/>
          </a:prstGeom>
          <a:noFill/>
          <a:ln w="0">
            <a:noFill/>
          </a:ln>
        </p:spPr>
        <p:txBody>
          <a:bodyPr wrap="square" lIns="0" tIns="0" rIns="0" bIns="0" anchor="t">
            <a:noAutofit/>
          </a:bodyPr>
          <a:lstStyle/>
          <a:p>
            <a:pPr>
              <a:defRPr sz="1200" b="0">
                <a:solidFill>
                  <a:srgbClr val="5A687C"/>
                </a:solidFill>
                <a:latin typeface="Noto Sans"/>
                <a:ea typeface="Noto Sans"/>
                <a:cs typeface="Noto Sans"/>
              </a:defRPr>
            </a:pPr>
            <a:r>
              <a:rPr sz="1200" b="0">
                <a:solidFill>
                  <a:srgbClr val="5A687C"/>
                </a:solidFill>
                <a:latin typeface="Noto Sans"/>
                <a:ea typeface="Noto Sans"/>
                <a:cs typeface="Noto Sans"/>
              </a:rPr>
              <a:t>Looplight / 03</a:t>
            </a:r>
          </a:p>
        </p:txBody>
      </p:sp>
    </p:spTree>
    <p:extLst>
      <p:ext uri="{BB962C8B-B14F-4D97-AF65-F5344CB8AC3E}">
        <ns4:creationId val="1216044390"/>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102238"/>
        </a:solidFill>
      </p:bgPr>
    </p:bg>
    <p:spTree>
      <p:nvGrpSpPr>
        <p:cNvPr id="1" name=""/>
        <p:cNvGrpSpPr/>
        <p:nvPr/>
      </p:nvGrpSpPr>
      <p:grpSpPr>
        <a:xfrm/>
      </p:grpSpPr>
      <p:sp>
        <p:nvSpPr>
          <p:cNvPr id="11" name="text-19">
            <a:extLst>
              <a:ext uri="{FF2B5EF4-FFF2-40B4-BE49-F238E27FC236}">
                <ns2:creationId id="{51B98348-86A4-4A94-8B83-99F3EF99E40B}"/>
              </a:ext>
            </a:extLst>
          </p:cNvPr>
          <p:cNvSpPr>
            <a:spLocks noGrp="1"/>
          </p:cNvSpPr>
          <p:nvPr/>
        </p:nvSpPr>
        <p:spPr>
          <a:xfrm>
            <a:off x="685800" y="571500"/>
            <a:ext cx="10820400" cy="1104900"/>
          </a:xfrm>
          <a:prstGeom prst="rect">
            <a:avLst/>
          </a:prstGeom>
          <a:noFill/>
          <a:ln w="0">
            <a:noFill/>
          </a:ln>
        </p:spPr>
        <p:txBody>
          <a:bodyPr wrap="square" lIns="0" tIns="0" rIns="0" bIns="0" anchor="t">
            <a:noAutofit/>
          </a:bodyPr>
          <a:lstStyle/>
          <a:p>
            <a:pPr>
              <a:defRPr sz="3675" b="1">
                <a:solidFill>
                  <a:srgbClr val="FFFFFF"/>
                </a:solidFill>
                <a:latin typeface="Noto Sans"/>
                <a:ea typeface="Noto Sans"/>
                <a:cs typeface="Noto Sans"/>
              </a:defRPr>
            </a:pPr>
            <a:r>
              <a:rPr sz="3675" b="1">
                <a:solidFill>
                  <a:srgbClr val="FFFFFF"/>
                </a:solidFill>
                <a:latin typeface="Noto Sans"/>
                <a:ea typeface="Noto Sans"/>
                <a:cs typeface="Noto Sans"/>
              </a:rPr>
              <a:t>A result can arrive</a:t>
            </a:r>
          </a:p>
          <a:p>
            <a:pPr>
              <a:defRPr sz="3675" b="1">
                <a:solidFill>
                  <a:srgbClr val="FFFFFF"/>
                </a:solidFill>
                <a:latin typeface="Noto Sans"/>
                <a:ea typeface="Noto Sans"/>
                <a:cs typeface="Noto Sans"/>
              </a:defRPr>
            </a:pPr>
            <a:r>
              <a:rPr sz="3675" b="1">
                <a:solidFill>
                  <a:srgbClr val="FFFFFF"/>
                </a:solidFill>
                <a:latin typeface="Noto Sans"/>
                <a:ea typeface="Noto Sans"/>
                <a:cs typeface="Noto Sans"/>
              </a:rPr>
              <a:t>before anyone reviews it</a:t>
            </a:r>
          </a:p>
        </p:txBody>
      </p:sp>
      <p:sp>
        <p:nvSpPr>
          <p:cNvPr id="2" name="text-20">
            <a:extLst>
              <a:ext uri="{FF2B5EF4-FFF2-40B4-BE49-F238E27FC236}">
                <ns2:creationId id="{22A52253-C7D0-4528-9D82-7DA8646E6603}"/>
              </a:ext>
            </a:extLst>
          </p:cNvPr>
          <p:cNvSpPr>
            <a:spLocks noGrp="1"/>
          </p:cNvSpPr>
          <p:nvPr/>
        </p:nvSpPr>
        <p:spPr>
          <a:xfrm>
            <a:off x="685800" y="2381250"/>
            <a:ext cx="6543675" cy="323850"/>
          </a:xfrm>
          <a:prstGeom prst="rect">
            <a:avLst/>
          </a:prstGeom>
          <a:noFill/>
          <a:ln w="0">
            <a:noFill/>
          </a:ln>
        </p:spPr>
        <p:txBody>
          <a:bodyPr wrap="square" lIns="0" tIns="0" rIns="0" bIns="0" anchor="t">
            <a:noAutofit/>
          </a:bodyPr>
          <a:lstStyle/>
          <a:p>
            <a:pPr>
              <a:defRPr sz="1500" b="1">
                <a:solidFill>
                  <a:srgbClr val="C7F578"/>
                </a:solidFill>
                <a:latin typeface="Noto Sans"/>
                <a:ea typeface="Noto Sans"/>
                <a:cs typeface="Noto Sans"/>
              </a:defRPr>
            </a:pPr>
            <a:r>
              <a:rPr sz="1500" b="1">
                <a:solidFill>
                  <a:srgbClr val="C7F578"/>
                </a:solidFill>
                <a:latin typeface="Noto Sans"/>
                <a:ea typeface="Noto Sans"/>
                <a:cs typeface="Noto Sans"/>
              </a:rPr>
              <a:t>01  RESULT RECEIVED</a:t>
            </a:r>
          </a:p>
        </p:txBody>
      </p:sp>
      <p:sp>
        <p:nvSpPr>
          <p:cNvPr id="3" name="text-21">
            <a:extLst>
              <a:ext uri="{FF2B5EF4-FFF2-40B4-BE49-F238E27FC236}">
                <ns2:creationId id="{626AB89F-B7D7-443F-B7ED-AA2D681ECC28}"/>
              </a:ext>
            </a:extLst>
          </p:cNvPr>
          <p:cNvSpPr>
            <a:spLocks noGrp="1"/>
          </p:cNvSpPr>
          <p:nvPr/>
        </p:nvSpPr>
        <p:spPr>
          <a:xfrm>
            <a:off x="685800" y="2724150"/>
            <a:ext cx="6400800" cy="590550"/>
          </a:xfrm>
          <a:prstGeom prst="rect">
            <a:avLst/>
          </a:prstGeom>
          <a:noFill/>
          <a:ln w="0">
            <a:noFill/>
          </a:ln>
        </p:spPr>
        <p:txBody>
          <a:bodyPr wrap="square" lIns="0" tIns="0" rIns="0" bIns="0" anchor="t">
            <a:noAutofit/>
          </a:bodyPr>
          <a:lstStyle/>
          <a:p>
            <a:pPr>
              <a:defRPr sz="2100" b="0">
                <a:solidFill>
                  <a:srgbClr val="FFFFFF"/>
                </a:solidFill>
                <a:latin typeface="Noto Sans"/>
                <a:ea typeface="Noto Sans"/>
                <a:cs typeface="Noto Sans"/>
              </a:defRPr>
            </a:pPr>
            <a:r>
              <a:rPr sz="2100" b="0">
                <a:solidFill>
                  <a:srgbClr val="FFFFFF"/>
                </a:solidFill>
                <a:latin typeface="Noto Sans"/>
                <a:ea typeface="Noto Sans"/>
                <a:cs typeface="Noto Sans"/>
              </a:rPr>
              <a:t>The family has the result.</a:t>
            </a:r>
          </a:p>
        </p:txBody>
      </p:sp>
      <p:sp>
        <p:nvSpPr>
          <p:cNvPr id="4" name="text-22">
            <a:extLst>
              <a:ext uri="{FF2B5EF4-FFF2-40B4-BE49-F238E27FC236}">
                <ns2:creationId id="{8CF9E450-961D-4D89-A741-21671A609ED0}"/>
              </a:ext>
            </a:extLst>
          </p:cNvPr>
          <p:cNvSpPr>
            <a:spLocks noGrp="1"/>
          </p:cNvSpPr>
          <p:nvPr/>
        </p:nvSpPr>
        <p:spPr>
          <a:xfrm>
            <a:off x="685800" y="3409950"/>
            <a:ext cx="6543675" cy="323850"/>
          </a:xfrm>
          <a:prstGeom prst="rect">
            <a:avLst/>
          </a:prstGeom>
          <a:noFill/>
          <a:ln w="0">
            <a:noFill/>
          </a:ln>
        </p:spPr>
        <p:txBody>
          <a:bodyPr wrap="square" lIns="0" tIns="0" rIns="0" bIns="0" anchor="t">
            <a:noAutofit/>
          </a:bodyPr>
          <a:lstStyle/>
          <a:p>
            <a:pPr>
              <a:defRPr sz="1500" b="1">
                <a:solidFill>
                  <a:srgbClr val="C7F578"/>
                </a:solidFill>
                <a:latin typeface="Noto Sans"/>
                <a:ea typeface="Noto Sans"/>
                <a:cs typeface="Noto Sans"/>
              </a:defRPr>
            </a:pPr>
            <a:r>
              <a:rPr sz="1500" b="1">
                <a:solidFill>
                  <a:srgbClr val="C7F578"/>
                </a:solidFill>
                <a:latin typeface="Noto Sans"/>
                <a:ea typeface="Noto Sans"/>
                <a:cs typeface="Noto Sans"/>
              </a:rPr>
              <a:t>02  CLINICIAN REVIEW REPORTED</a:t>
            </a:r>
          </a:p>
        </p:txBody>
      </p:sp>
      <p:sp>
        <p:nvSpPr>
          <p:cNvPr id="5" name="text-23">
            <a:extLst>
              <a:ext uri="{FF2B5EF4-FFF2-40B4-BE49-F238E27FC236}">
                <ns2:creationId id="{FA1E96D4-4FD7-4E0E-A4E4-2B94B428F6AE}"/>
              </a:ext>
            </a:extLst>
          </p:cNvPr>
          <p:cNvSpPr>
            <a:spLocks noGrp="1"/>
          </p:cNvSpPr>
          <p:nvPr/>
        </p:nvSpPr>
        <p:spPr>
          <a:xfrm>
            <a:off x="685800" y="3752850"/>
            <a:ext cx="6400800" cy="590550"/>
          </a:xfrm>
          <a:prstGeom prst="rect">
            <a:avLst/>
          </a:prstGeom>
          <a:noFill/>
          <a:ln w="0">
            <a:noFill/>
          </a:ln>
        </p:spPr>
        <p:txBody>
          <a:bodyPr wrap="square" lIns="0" tIns="0" rIns="0" bIns="0" anchor="t">
            <a:noAutofit/>
          </a:bodyPr>
          <a:lstStyle/>
          <a:p>
            <a:pPr>
              <a:defRPr sz="2100" b="0">
                <a:solidFill>
                  <a:srgbClr val="FFFFFF"/>
                </a:solidFill>
                <a:latin typeface="Noto Sans"/>
                <a:ea typeface="Noto Sans"/>
                <a:cs typeface="Noto Sans"/>
              </a:defRPr>
            </a:pPr>
            <a:r>
              <a:rPr sz="2100" b="0">
                <a:solidFill>
                  <a:srgbClr val="FFFFFF"/>
                </a:solidFill>
                <a:latin typeface="Noto Sans"/>
                <a:ea typeface="Noto Sans"/>
                <a:cs typeface="Noto Sans"/>
              </a:rPr>
              <a:t>A user records who reviewed it.</a:t>
            </a:r>
          </a:p>
        </p:txBody>
      </p:sp>
      <p:sp>
        <p:nvSpPr>
          <p:cNvPr id="6" name="text-24">
            <a:extLst>
              <a:ext uri="{FF2B5EF4-FFF2-40B4-BE49-F238E27FC236}">
                <ns2:creationId id="{96DC666D-140C-452F-8E57-0437BA57AE3A}"/>
              </a:ext>
            </a:extLst>
          </p:cNvPr>
          <p:cNvSpPr>
            <a:spLocks noGrp="1"/>
          </p:cNvSpPr>
          <p:nvPr/>
        </p:nvSpPr>
        <p:spPr>
          <a:xfrm>
            <a:off x="685800" y="4438650"/>
            <a:ext cx="6543675" cy="323850"/>
          </a:xfrm>
          <a:prstGeom prst="rect">
            <a:avLst/>
          </a:prstGeom>
          <a:noFill/>
          <a:ln w="0">
            <a:noFill/>
          </a:ln>
        </p:spPr>
        <p:txBody>
          <a:bodyPr wrap="square" lIns="0" tIns="0" rIns="0" bIns="0" anchor="t">
            <a:noAutofit/>
          </a:bodyPr>
          <a:lstStyle/>
          <a:p>
            <a:pPr>
              <a:defRPr sz="1500" b="1">
                <a:solidFill>
                  <a:srgbClr val="C7F578"/>
                </a:solidFill>
                <a:latin typeface="Noto Sans"/>
                <a:ea typeface="Noto Sans"/>
                <a:cs typeface="Noto Sans"/>
              </a:defRPr>
            </a:pPr>
            <a:r>
              <a:rPr sz="1500" b="1">
                <a:solidFill>
                  <a:srgbClr val="C7F578"/>
                </a:solidFill>
                <a:latin typeface="Noto Sans"/>
                <a:ea typeface="Noto Sans"/>
                <a:cs typeface="Noto Sans"/>
              </a:rPr>
              <a:t>03  OUTCOME RECORDED</a:t>
            </a:r>
          </a:p>
        </p:txBody>
      </p:sp>
      <p:sp>
        <p:nvSpPr>
          <p:cNvPr id="7" name="text-25">
            <a:extLst>
              <a:ext uri="{FF2B5EF4-FFF2-40B4-BE49-F238E27FC236}">
                <ns2:creationId id="{A3BEA6E8-5B22-42F1-88D8-434D84894A5C}"/>
              </a:ext>
            </a:extLst>
          </p:cNvPr>
          <p:cNvSpPr>
            <a:spLocks noGrp="1"/>
          </p:cNvSpPr>
          <p:nvPr/>
        </p:nvSpPr>
        <p:spPr>
          <a:xfrm>
            <a:off x="685800" y="4781550"/>
            <a:ext cx="6400800" cy="590550"/>
          </a:xfrm>
          <a:prstGeom prst="rect">
            <a:avLst/>
          </a:prstGeom>
          <a:noFill/>
          <a:ln w="0">
            <a:noFill/>
          </a:ln>
        </p:spPr>
        <p:txBody>
          <a:bodyPr wrap="square" lIns="0" tIns="0" rIns="0" bIns="0" anchor="t">
            <a:noAutofit/>
          </a:bodyPr>
          <a:lstStyle/>
          <a:p>
            <a:pPr>
              <a:defRPr sz="2100" b="0">
                <a:solidFill>
                  <a:srgbClr val="FFFFFF"/>
                </a:solidFill>
                <a:latin typeface="Noto Sans"/>
                <a:ea typeface="Noto Sans"/>
                <a:cs typeface="Noto Sans"/>
              </a:defRPr>
            </a:pPr>
            <a:r>
              <a:rPr sz="2100" b="0">
                <a:solidFill>
                  <a:srgbClr val="FFFFFF"/>
                </a:solidFill>
                <a:latin typeface="Noto Sans"/>
                <a:ea typeface="Noto Sans"/>
                <a:cs typeface="Noto Sans"/>
              </a:rPr>
              <a:t>The history keeps the reported ending.</a:t>
            </a:r>
          </a:p>
        </p:txBody>
      </p:sp>
      <p:pic>
        <p:nvPicPr>
          <p:cNvPr id="18" name=""/>
          <p:cNvPicPr>
            <a:picLocks noChangeAspect="1"/>
          </p:cNvPicPr>
          <p:nvPr/>
        </p:nvPicPr>
        <p:blipFill>
          <a:blip r:embed="R27ccfbbf9e9945a0"/>
          <a:srcRect l="57639" t="13200" r="0" b="29800"/>
          <a:stretch/>
        </p:blipFill>
        <p:spPr>
          <a:xfrm>
            <a:off x="7643311" y="2076450"/>
            <a:ext cx="3791953" cy="3543300"/>
          </a:xfrm>
          <a:prstGeom prst="rect">
            <a:avLst/>
          </a:prstGeom>
        </p:spPr>
      </p:pic>
      <p:sp>
        <p:nvSpPr>
          <p:cNvPr id="9" name="text-26">
            <a:extLst>
              <a:ext uri="{FF2B5EF4-FFF2-40B4-BE49-F238E27FC236}">
                <ns2:creationId id="{F7248B52-41B2-4448-85C1-BA6EF541055F}"/>
              </a:ext>
            </a:extLst>
          </p:cNvPr>
          <p:cNvSpPr>
            <a:spLocks noGrp="1"/>
          </p:cNvSpPr>
          <p:nvPr/>
        </p:nvSpPr>
        <p:spPr>
          <a:xfrm>
            <a:off x="685800" y="5953125"/>
            <a:ext cx="10820400" cy="333375"/>
          </a:xfrm>
          <a:prstGeom prst="rect">
            <a:avLst/>
          </a:prstGeom>
          <a:noFill/>
          <a:ln w="0">
            <a:noFill/>
          </a:ln>
        </p:spPr>
        <p:txBody>
          <a:bodyPr wrap="square" lIns="0" tIns="0" rIns="0" bIns="0" anchor="t">
            <a:noAutofit/>
          </a:bodyPr>
          <a:lstStyle/>
          <a:p>
            <a:pPr>
              <a:defRPr sz="1650" b="0">
                <a:solidFill>
                  <a:srgbClr val="DCE4EF"/>
                </a:solidFill>
                <a:latin typeface="Noto Sans"/>
                <a:ea typeface="Noto Sans"/>
                <a:cs typeface="Noto Sans"/>
              </a:defRPr>
            </a:pPr>
            <a:r>
              <a:rPr sz="1650" b="0">
                <a:solidFill>
                  <a:srgbClr val="DCE4EF"/>
                </a:solidFill>
                <a:latin typeface="Noto Sans"/>
                <a:ea typeface="Noto Sans"/>
                <a:cs typeface="Noto Sans"/>
              </a:rPr>
              <a:t>User reports. No independent clinical verification.</a:t>
            </a:r>
          </a:p>
        </p:txBody>
      </p:sp>
      <p:sp>
        <p:nvSpPr>
          <p:cNvPr id="10" name="text-27">
            <a:extLst>
              <a:ext uri="{FF2B5EF4-FFF2-40B4-BE49-F238E27FC236}">
                <ns2:creationId id="{87BAD01D-E671-4B72-A155-FE17EF9E4ADB}"/>
              </a:ext>
            </a:extLst>
          </p:cNvPr>
          <p:cNvSpPr>
            <a:spLocks noGrp="1"/>
          </p:cNvSpPr>
          <p:nvPr/>
        </p:nvSpPr>
        <p:spPr>
          <a:xfrm>
            <a:off x="685800" y="6381750"/>
            <a:ext cx="7620000" cy="247650"/>
          </a:xfrm>
          <a:prstGeom prst="rect">
            <a:avLst/>
          </a:prstGeom>
          <a:noFill/>
          <a:ln w="0">
            <a:noFill/>
          </a:ln>
        </p:spPr>
        <p:txBody>
          <a:bodyPr wrap="square" lIns="0" tIns="0" rIns="0" bIns="0" anchor="t">
            <a:noAutofit/>
          </a:bodyPr>
          <a:lstStyle/>
          <a:p>
            <a:pPr>
              <a:defRPr sz="1200" b="0">
                <a:solidFill>
                  <a:srgbClr val="DCE4EF"/>
                </a:solidFill>
                <a:latin typeface="Noto Sans"/>
                <a:ea typeface="Noto Sans"/>
                <a:cs typeface="Noto Sans"/>
              </a:defRPr>
            </a:pPr>
            <a:r>
              <a:rPr sz="1200" b="0">
                <a:solidFill>
                  <a:srgbClr val="DCE4EF"/>
                </a:solidFill>
                <a:latin typeface="Noto Sans"/>
                <a:ea typeface="Noto Sans"/>
                <a:cs typeface="Noto Sans"/>
              </a:rPr>
              <a:t>Looplight / 04</a:t>
            </a:r>
          </a:p>
        </p:txBody>
      </p:sp>
    </p:spTree>
    <p:extLst>
      <p:ext uri="{BB962C8B-B14F-4D97-AF65-F5344CB8AC3E}">
        <ns4:creationId val="19612341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8">
            <a:extLst xmlns:a="http://schemas.openxmlformats.org/drawingml/2006/main">
              <a:ext uri="{FF2B5EF4-FFF2-40B4-BE49-F238E27FC236}">
                <a16:creationId xmlns:a16="http://schemas.microsoft.com/office/drawing/2014/main" id="{3C658B97-08C8-4023-8DB9-8F7DA8325584}"/>
              </a:ext>
            </a:extLst>
          </p:cNvPr>
          <p:cNvSpPr>
            <a:spLocks xmlns:a="http://schemas.openxmlformats.org/drawingml/2006/main" noGrp="1"/>
          </p:cNvSpPr>
          <p:nvPr/>
        </p:nvSpPr>
        <p:spPr>
          <a:xfrm xmlns:a="http://schemas.openxmlformats.org/drawingml/2006/main">
            <a:off x="685800" y="5715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02238"/>
                </a:solidFill>
                <a:latin typeface="Noto Sans"/>
                <a:ea typeface="Noto Sans"/>
                <a:cs typeface="Noto Sans"/>
              </a:defRPr>
            </a:pPr>
            <a:r>
              <a:rPr sz="3675" b="1">
                <a:solidFill>
                  <a:srgbClr val="102238"/>
                </a:solidFill>
                <a:latin typeface="Noto Sans"/>
                <a:ea typeface="Noto Sans"/>
                <a:cs typeface="Noto Sans"/>
              </a:rPr>
              <a:t>Measured on known synthetic fixtures</a:t>
            </a:r>
          </a:p>
        </p:txBody>
      </p:sp>
      <p:sp>
        <p:nvSpPr>
          <p:cNvPr id="2" name="text-29">
            <a:extLst xmlns:a="http://schemas.openxmlformats.org/drawingml/2006/main">
              <a:ext uri="{FF2B5EF4-FFF2-40B4-BE49-F238E27FC236}">
                <a16:creationId xmlns:a16="http://schemas.microsoft.com/office/drawing/2014/main" id="{88D6ED5B-A293-41F0-99EB-8B62F9FE89DD}"/>
              </a:ext>
            </a:extLst>
          </p:cNvPr>
          <p:cNvSpPr>
            <a:spLocks xmlns:a="http://schemas.openxmlformats.org/drawingml/2006/main" noGrp="1"/>
          </p:cNvSpPr>
          <p:nvPr/>
        </p:nvSpPr>
        <p:spPr>
          <a:xfrm xmlns:a="http://schemas.openxmlformats.org/drawingml/2006/main">
            <a:off x="685800" y="2076450"/>
            <a:ext cx="4905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0" b="1">
                <a:solidFill>
                  <a:srgbClr val="315BDB"/>
                </a:solidFill>
                <a:latin typeface="Noto Sans"/>
                <a:ea typeface="Noto Sans"/>
                <a:cs typeface="Noto Sans"/>
              </a:defRPr>
            </a:pPr>
            <a:r>
              <a:rPr sz="7500" b="1">
                <a:solidFill>
                  <a:srgbClr val="315BDB"/>
                </a:solidFill>
                <a:latin typeface="Noto Sans"/>
                <a:ea typeface="Noto Sans"/>
                <a:cs typeface="Noto Sans"/>
              </a:rPr>
              <a:t>33/34</a:t>
            </a:r>
          </a:p>
        </p:txBody>
      </p:sp>
      <p:sp>
        <p:nvSpPr>
          <p:cNvPr id="3" name="text-30">
            <a:extLst xmlns:a="http://schemas.openxmlformats.org/drawingml/2006/main">
              <a:ext uri="{FF2B5EF4-FFF2-40B4-BE49-F238E27FC236}">
                <a16:creationId xmlns:a16="http://schemas.microsoft.com/office/drawing/2014/main" id="{780B58D9-5C3F-4776-8B3F-485BA621E8C9}"/>
              </a:ext>
            </a:extLst>
          </p:cNvPr>
          <p:cNvSpPr>
            <a:spLocks xmlns:a="http://schemas.openxmlformats.org/drawingml/2006/main" noGrp="1"/>
          </p:cNvSpPr>
          <p:nvPr/>
        </p:nvSpPr>
        <p:spPr>
          <a:xfrm xmlns:a="http://schemas.openxmlformats.org/drawingml/2006/main">
            <a:off x="723900" y="3400425"/>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238"/>
                </a:solidFill>
                <a:latin typeface="Noto Sans"/>
                <a:ea typeface="Noto Sans"/>
                <a:cs typeface="Noto Sans"/>
              </a:defRPr>
            </a:pPr>
            <a:r>
              <a:rPr sz="2175" b="1">
                <a:solidFill>
                  <a:srgbClr val="102238"/>
                </a:solidFill>
                <a:latin typeface="Noto Sans"/>
                <a:ea typeface="Noto Sans"/>
                <a:cs typeface="Noto Sans"/>
              </a:rPr>
              <a:t>proposals matched</a:t>
            </a:r>
          </a:p>
          <a:p xmlns:a="http://schemas.openxmlformats.org/drawingml/2006/main">
            <a:pPr>
              <a:defRPr sz="2175" b="1">
                <a:solidFill>
                  <a:srgbClr val="102238"/>
                </a:solidFill>
                <a:latin typeface="Noto Sans"/>
                <a:ea typeface="Noto Sans"/>
                <a:cs typeface="Noto Sans"/>
              </a:defRPr>
            </a:pPr>
            <a:r>
              <a:rPr sz="2175" b="1">
                <a:solidFill>
                  <a:srgbClr val="102238"/>
                </a:solidFill>
                <a:latin typeface="Noto Sans"/>
                <a:ea typeface="Noto Sans"/>
                <a:cs typeface="Noto Sans"/>
              </a:rPr>
              <a:t>97.1% precision</a:t>
            </a:r>
          </a:p>
        </p:txBody>
      </p:sp>
      <p:sp>
        <p:nvSpPr>
          <p:cNvPr id="4" name="text-31">
            <a:extLst xmlns:a="http://schemas.openxmlformats.org/drawingml/2006/main">
              <a:ext uri="{FF2B5EF4-FFF2-40B4-BE49-F238E27FC236}">
                <a16:creationId xmlns:a16="http://schemas.microsoft.com/office/drawing/2014/main" id="{B6C25E8E-D715-42EE-80F2-5B06C455A224}"/>
              </a:ext>
            </a:extLst>
          </p:cNvPr>
          <p:cNvSpPr>
            <a:spLocks xmlns:a="http://schemas.openxmlformats.org/drawingml/2006/main" noGrp="1"/>
          </p:cNvSpPr>
          <p:nvPr/>
        </p:nvSpPr>
        <p:spPr>
          <a:xfrm xmlns:a="http://schemas.openxmlformats.org/drawingml/2006/main">
            <a:off x="6210300" y="2076450"/>
            <a:ext cx="4905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0" b="1">
                <a:solidFill>
                  <a:srgbClr val="315BDB"/>
                </a:solidFill>
                <a:latin typeface="Noto Sans"/>
                <a:ea typeface="Noto Sans"/>
                <a:cs typeface="Noto Sans"/>
              </a:defRPr>
            </a:pPr>
            <a:r>
              <a:rPr sz="7500" b="1">
                <a:solidFill>
                  <a:srgbClr val="315BDB"/>
                </a:solidFill>
                <a:latin typeface="Noto Sans"/>
                <a:ea typeface="Noto Sans"/>
                <a:cs typeface="Noto Sans"/>
              </a:rPr>
              <a:t>33/44</a:t>
            </a:r>
          </a:p>
        </p:txBody>
      </p:sp>
      <p:sp>
        <p:nvSpPr>
          <p:cNvPr id="5" name="text-32">
            <a:extLst xmlns:a="http://schemas.openxmlformats.org/drawingml/2006/main">
              <a:ext uri="{FF2B5EF4-FFF2-40B4-BE49-F238E27FC236}">
                <a16:creationId xmlns:a16="http://schemas.microsoft.com/office/drawing/2014/main" id="{AE611BC8-0F3A-4FE4-A7D4-ECE41110D075}"/>
              </a:ext>
            </a:extLst>
          </p:cNvPr>
          <p:cNvSpPr>
            <a:spLocks xmlns:a="http://schemas.openxmlformats.org/drawingml/2006/main" noGrp="1"/>
          </p:cNvSpPr>
          <p:nvPr/>
        </p:nvSpPr>
        <p:spPr>
          <a:xfrm xmlns:a="http://schemas.openxmlformats.org/drawingml/2006/main">
            <a:off x="6248400" y="3400425"/>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238"/>
                </a:solidFill>
                <a:latin typeface="Noto Sans"/>
                <a:ea typeface="Noto Sans"/>
                <a:cs typeface="Noto Sans"/>
              </a:defRPr>
            </a:pPr>
            <a:r>
              <a:rPr sz="2175" b="1">
                <a:solidFill>
                  <a:srgbClr val="102238"/>
                </a:solidFill>
                <a:latin typeface="Noto Sans"/>
                <a:ea typeface="Noto Sans"/>
                <a:cs typeface="Noto Sans"/>
              </a:rPr>
              <a:t>expected actions found</a:t>
            </a:r>
          </a:p>
          <a:p xmlns:a="http://schemas.openxmlformats.org/drawingml/2006/main">
            <a:pPr>
              <a:defRPr sz="2175" b="1">
                <a:solidFill>
                  <a:srgbClr val="102238"/>
                </a:solidFill>
                <a:latin typeface="Noto Sans"/>
                <a:ea typeface="Noto Sans"/>
                <a:cs typeface="Noto Sans"/>
              </a:defRPr>
            </a:pPr>
            <a:r>
              <a:rPr sz="2175" b="1">
                <a:solidFill>
                  <a:srgbClr val="102238"/>
                </a:solidFill>
                <a:latin typeface="Noto Sans"/>
                <a:ea typeface="Noto Sans"/>
                <a:cs typeface="Noto Sans"/>
              </a:rPr>
              <a:t>75% recall</a:t>
            </a:r>
          </a:p>
        </p:txBody>
      </p:sp>
      <p:sp>
        <p:nvSpPr>
          <p:cNvPr id="6" name="text-33">
            <a:extLst xmlns:a="http://schemas.openxmlformats.org/drawingml/2006/main">
              <a:ext uri="{FF2B5EF4-FFF2-40B4-BE49-F238E27FC236}">
                <a16:creationId xmlns:a16="http://schemas.microsoft.com/office/drawing/2014/main" id="{1B3B65B5-E0BE-479F-B968-A76BE2579164}"/>
              </a:ext>
            </a:extLst>
          </p:cNvPr>
          <p:cNvSpPr>
            <a:spLocks xmlns:a="http://schemas.openxmlformats.org/drawingml/2006/main" noGrp="1"/>
          </p:cNvSpPr>
          <p:nvPr/>
        </p:nvSpPr>
        <p:spPr>
          <a:xfrm xmlns:a="http://schemas.openxmlformats.org/drawingml/2006/main">
            <a:off x="685800" y="4581525"/>
            <a:ext cx="10744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A687C"/>
                </a:solidFill>
                <a:latin typeface="Noto Sans"/>
                <a:ea typeface="Noto Sans"/>
                <a:cs typeface="Noto Sans"/>
              </a:defRPr>
            </a:pPr>
            <a:r>
              <a:rPr sz="1950" b="0">
                <a:solidFill>
                  <a:srgbClr val="5A687C"/>
                </a:solidFill>
                <a:latin typeface="Noto Sans"/>
                <a:ea typeface="Noto Sans"/>
                <a:cs typeface="Noto Sans"/>
              </a:rPr>
              <a:t>Historical evaluation on 20 known synthetic documents.</a:t>
            </a:r>
          </a:p>
        </p:txBody>
      </p:sp>
      <p:sp>
        <p:nvSpPr>
          <p:cNvPr id="7" name="text-34">
            <a:extLst xmlns:a="http://schemas.openxmlformats.org/drawingml/2006/main">
              <a:ext uri="{FF2B5EF4-FFF2-40B4-BE49-F238E27FC236}">
                <a16:creationId xmlns:a16="http://schemas.microsoft.com/office/drawing/2014/main" id="{A54449F0-967A-4EE2-BACD-CEF3F8BC1596}"/>
              </a:ext>
            </a:extLst>
          </p:cNvPr>
          <p:cNvSpPr>
            <a:spLocks xmlns:a="http://schemas.openxmlformats.org/drawingml/2006/main" noGrp="1"/>
          </p:cNvSpPr>
          <p:nvPr/>
        </p:nvSpPr>
        <p:spPr>
          <a:xfrm xmlns:a="http://schemas.openxmlformats.org/drawingml/2006/main">
            <a:off x="685800" y="5172075"/>
            <a:ext cx="1074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238"/>
                </a:solidFill>
                <a:latin typeface="Noto Sans"/>
                <a:ea typeface="Noto Sans"/>
                <a:cs typeface="Noto Sans"/>
              </a:defRPr>
            </a:pPr>
            <a:r>
              <a:rPr sz="2175" b="1">
                <a:solidFill>
                  <a:srgbClr val="102238"/>
                </a:solidFill>
                <a:latin typeface="Noto Sans"/>
                <a:ea typeface="Noto Sans"/>
                <a:cs typeface="Noto Sans"/>
              </a:rPr>
              <a:t>Reused during fixes. Not held-out or clinical validation.</a:t>
            </a:r>
          </a:p>
        </p:txBody>
      </p:sp>
      <p:sp>
        <p:nvSpPr>
          <p:cNvPr id="8" name="text-35">
            <a:extLst xmlns:a="http://schemas.openxmlformats.org/drawingml/2006/main">
              <a:ext uri="{FF2B5EF4-FFF2-40B4-BE49-F238E27FC236}">
                <a16:creationId xmlns:a16="http://schemas.microsoft.com/office/drawing/2014/main" id="{96CE92AF-9C33-4338-80E2-4920D085A7D3}"/>
              </a:ext>
            </a:extLst>
          </p:cNvPr>
          <p:cNvSpPr>
            <a:spLocks xmlns:a="http://schemas.openxmlformats.org/drawingml/2006/main" noGrp="1"/>
          </p:cNvSpPr>
          <p:nvPr/>
        </p:nvSpPr>
        <p:spPr>
          <a:xfrm xmlns:a="http://schemas.openxmlformats.org/drawingml/2006/main">
            <a:off x="685800" y="583882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A687C"/>
                </a:solidFill>
                <a:latin typeface="Noto Sans"/>
                <a:ea typeface="Noto Sans"/>
                <a:cs typeface="Noto Sans"/>
              </a:defRPr>
            </a:pPr>
            <a:r>
              <a:rPr sz="1725" b="0">
                <a:solidFill>
                  <a:srgbClr val="5A687C"/>
                </a:solidFill>
                <a:latin typeface="Noto Sans"/>
                <a:ea typeface="Noto Sans"/>
                <a:cs typeface="Noto Sans"/>
              </a:rPr>
              <a:t>The next evaluation needs independently annotated documents.</a:t>
            </a:r>
          </a:p>
        </p:txBody>
      </p:sp>
      <p:sp>
        <p:nvSpPr>
          <p:cNvPr id="9" name="text-36">
            <a:extLst xmlns:a="http://schemas.openxmlformats.org/drawingml/2006/main">
              <a:ext uri="{FF2B5EF4-FFF2-40B4-BE49-F238E27FC236}">
                <a16:creationId xmlns:a16="http://schemas.microsoft.com/office/drawing/2014/main" id="{1A09DC2F-1E5F-444D-AD6E-4BED6A74EE4E}"/>
              </a:ext>
            </a:extLst>
          </p:cNvPr>
          <p:cNvSpPr>
            <a:spLocks xmlns:a="http://schemas.openxmlformats.org/drawingml/2006/main" noGrp="1"/>
          </p:cNvSpPr>
          <p:nvPr/>
        </p:nvSpPr>
        <p:spPr>
          <a:xfrm xmlns:a="http://schemas.openxmlformats.org/drawingml/2006/main">
            <a:off x="685800" y="63817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A687C"/>
                </a:solidFill>
                <a:latin typeface="Noto Sans"/>
                <a:ea typeface="Noto Sans"/>
                <a:cs typeface="Noto Sans"/>
              </a:defRPr>
            </a:pPr>
            <a:r>
              <a:rPr sz="1200" b="0">
                <a:solidFill>
                  <a:srgbClr val="5A687C"/>
                </a:solidFill>
                <a:latin typeface="Noto Sans"/>
                <a:ea typeface="Noto Sans"/>
                <a:cs typeface="Noto Sans"/>
              </a:rPr>
              <a:t>Looplight / 05</a:t>
            </a:r>
          </a:p>
        </p:txBody>
      </p:sp>
    </p:spTree>
    <p:extLst>
      <p:ext uri="{BB962C8B-B14F-4D97-AF65-F5344CB8AC3E}">
        <p14:creationId xmlns:p14="http://schemas.microsoft.com/office/powerpoint/2010/main" val="890677522"/>
      </p:ext>
    </p:extLst>
  </p:cSld>
</p:sld>
</file>

<file path=ppt/slides/slide6.xml><?xml version="1.0" encoding="utf-8"?>
<p:sld xmlns:p="http://schemas.openxmlformats.org/presentationml/2006/main">
  <p:cSld>
    <p:bg>
      <p:bgPr>
        <a:solidFill xmlns:a="http://schemas.openxmlformats.org/drawingml/2006/main">
          <a:srgbClr val="C7F578"/>
        </a:solidFill>
      </p:bgPr>
    </p:bg>
    <p:spTree>
      <p:nvGrpSpPr>
        <p:cNvPr id="1" name=""/>
        <p:cNvGrpSpPr/>
        <p:nvPr/>
      </p:nvGrpSpPr>
      <p:grpSpPr>
        <a:xfrm xmlns:a="http://schemas.openxmlformats.org/drawingml/2006/main"/>
      </p:grpSpPr>
      <p:sp>
        <p:nvSpPr>
          <p:cNvPr id="9" name="text-37">
            <a:extLst xmlns:a="http://schemas.openxmlformats.org/drawingml/2006/main">
              <a:ext uri="{FF2B5EF4-FFF2-40B4-BE49-F238E27FC236}">
                <a16:creationId xmlns:a16="http://schemas.microsoft.com/office/drawing/2014/main" id="{D0FB35AE-7864-4471-A30F-E22F8875D0DE}"/>
              </a:ext>
            </a:extLst>
          </p:cNvPr>
          <p:cNvSpPr>
            <a:spLocks xmlns:a="http://schemas.openxmlformats.org/drawingml/2006/main" noGrp="1"/>
          </p:cNvSpPr>
          <p:nvPr/>
        </p:nvSpPr>
        <p:spPr>
          <a:xfrm xmlns:a="http://schemas.openxmlformats.org/drawingml/2006/main">
            <a:off x="685800" y="5715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02238"/>
                </a:solidFill>
                <a:latin typeface="Noto Sans"/>
                <a:ea typeface="Noto Sans"/>
                <a:cs typeface="Noto Sans"/>
              </a:defRPr>
            </a:pPr>
            <a:r>
              <a:rPr sz="3675" b="1">
                <a:solidFill>
                  <a:srgbClr val="102238"/>
                </a:solidFill>
                <a:latin typeface="Noto Sans"/>
                <a:ea typeface="Noto Sans"/>
                <a:cs typeface="Noto Sans"/>
              </a:rPr>
              <a:t>A narrow first customer</a:t>
            </a:r>
          </a:p>
        </p:txBody>
      </p:sp>
      <p:sp>
        <p:nvSpPr>
          <p:cNvPr id="2" name="text-38">
            <a:extLst xmlns:a="http://schemas.openxmlformats.org/drawingml/2006/main">
              <a:ext uri="{FF2B5EF4-FFF2-40B4-BE49-F238E27FC236}">
                <a16:creationId xmlns:a16="http://schemas.microsoft.com/office/drawing/2014/main" id="{62C7CBEE-FC23-4482-8744-DBD3EFC163C1}"/>
              </a:ext>
            </a:extLst>
          </p:cNvPr>
          <p:cNvSpPr>
            <a:spLocks xmlns:a="http://schemas.openxmlformats.org/drawingml/2006/main" noGrp="1"/>
          </p:cNvSpPr>
          <p:nvPr/>
        </p:nvSpPr>
        <p:spPr>
          <a:xfrm xmlns:a="http://schemas.openxmlformats.org/drawingml/2006/main">
            <a:off x="685800" y="19335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02238"/>
                </a:solidFill>
                <a:latin typeface="Noto Sans"/>
                <a:ea typeface="Noto Sans"/>
                <a:cs typeface="Noto Sans"/>
              </a:defRPr>
            </a:pPr>
            <a:r>
              <a:rPr sz="2925" b="1">
                <a:solidFill>
                  <a:srgbClr val="102238"/>
                </a:solidFill>
                <a:latin typeface="Noto Sans"/>
                <a:ea typeface="Noto Sans"/>
                <a:cs typeface="Noto Sans"/>
              </a:rPr>
              <a:t>A primary-care or transitions coordinator</a:t>
            </a:r>
          </a:p>
          <a:p xmlns:a="http://schemas.openxmlformats.org/drawingml/2006/main">
            <a:pPr>
              <a:defRPr sz="2925" b="1">
                <a:solidFill>
                  <a:srgbClr val="102238"/>
                </a:solidFill>
                <a:latin typeface="Noto Sans"/>
                <a:ea typeface="Noto Sans"/>
                <a:cs typeface="Noto Sans"/>
              </a:defRPr>
            </a:pPr>
            <a:r>
              <a:rPr sz="2925" b="1">
                <a:solidFill>
                  <a:srgbClr val="102238"/>
                </a:solidFill>
                <a:latin typeface="Noto Sans"/>
                <a:ea typeface="Noto Sans"/>
                <a:cs typeface="Noto Sans"/>
              </a:rPr>
              <a:t>already chasing discharge follow-up.</a:t>
            </a:r>
          </a:p>
        </p:txBody>
      </p:sp>
      <p:sp>
        <p:nvSpPr>
          <p:cNvPr id="3" name="text-39">
            <a:extLst xmlns:a="http://schemas.openxmlformats.org/drawingml/2006/main">
              <a:ext uri="{FF2B5EF4-FFF2-40B4-BE49-F238E27FC236}">
                <a16:creationId xmlns:a16="http://schemas.microsoft.com/office/drawing/2014/main" id="{F0322019-1095-4978-84AB-B64D2661DD24}"/>
              </a:ext>
            </a:extLst>
          </p:cNvPr>
          <p:cNvSpPr>
            <a:spLocks xmlns:a="http://schemas.openxmlformats.org/drawingml/2006/main" noGrp="1"/>
          </p:cNvSpPr>
          <p:nvPr/>
        </p:nvSpPr>
        <p:spPr>
          <a:xfrm xmlns:a="http://schemas.openxmlformats.org/drawingml/2006/main">
            <a:off x="685800" y="3562350"/>
            <a:ext cx="4667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102238"/>
                </a:solidFill>
                <a:latin typeface="Noto Sans"/>
                <a:ea typeface="Noto Sans"/>
                <a:cs typeface="Noto Sans"/>
              </a:defRPr>
            </a:pPr>
            <a:r>
              <a:rPr sz="6825" b="1">
                <a:solidFill>
                  <a:srgbClr val="102238"/>
                </a:solidFill>
                <a:latin typeface="Noto Sans"/>
                <a:ea typeface="Noto Sans"/>
                <a:cs typeface="Noto Sans"/>
              </a:rPr>
              <a:t>$149</a:t>
            </a:r>
          </a:p>
        </p:txBody>
      </p:sp>
      <p:sp>
        <p:nvSpPr>
          <p:cNvPr id="4" name="text-40">
            <a:extLst xmlns:a="http://schemas.openxmlformats.org/drawingml/2006/main">
              <a:ext uri="{FF2B5EF4-FFF2-40B4-BE49-F238E27FC236}">
                <a16:creationId xmlns:a16="http://schemas.microsoft.com/office/drawing/2014/main" id="{1430B7D6-EC51-4DEA-8F57-E0DE55CF6FA6}"/>
              </a:ext>
            </a:extLst>
          </p:cNvPr>
          <p:cNvSpPr>
            <a:spLocks xmlns:a="http://schemas.openxmlformats.org/drawingml/2006/main" noGrp="1"/>
          </p:cNvSpPr>
          <p:nvPr/>
        </p:nvSpPr>
        <p:spPr>
          <a:xfrm xmlns:a="http://schemas.openxmlformats.org/drawingml/2006/main">
            <a:off x="742950" y="4810125"/>
            <a:ext cx="5476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238"/>
                </a:solidFill>
                <a:latin typeface="Noto Sans"/>
                <a:ea typeface="Noto Sans"/>
                <a:cs typeface="Noto Sans"/>
              </a:defRPr>
            </a:pPr>
            <a:r>
              <a:rPr sz="1875" b="0">
                <a:solidFill>
                  <a:srgbClr val="102238"/>
                </a:solidFill>
                <a:latin typeface="Noto Sans"/>
                <a:ea typeface="Noto Sans"/>
                <a:cs typeface="Noto Sans"/>
              </a:rPr>
              <a:t>per month / 100 care episodes</a:t>
            </a:r>
          </a:p>
          <a:p xmlns:a="http://schemas.openxmlformats.org/drawingml/2006/main">
            <a:pPr>
              <a:defRPr sz="1875" b="0">
                <a:solidFill>
                  <a:srgbClr val="102238"/>
                </a:solidFill>
                <a:latin typeface="Noto Sans"/>
                <a:ea typeface="Noto Sans"/>
                <a:cs typeface="Noto Sans"/>
              </a:defRPr>
            </a:pPr>
            <a:r>
              <a:rPr sz="1875" b="0">
                <a:solidFill>
                  <a:srgbClr val="102238"/>
                </a:solidFill>
                <a:latin typeface="Noto Sans"/>
                <a:ea typeface="Noto Sans"/>
                <a:cs typeface="Noto Sans"/>
              </a:rPr>
              <a:t>Single-coordinator pricing hypothesis</a:t>
            </a:r>
          </a:p>
        </p:txBody>
      </p:sp>
      <p:sp>
        <p:nvSpPr>
          <p:cNvPr id="5" name="text-41">
            <a:extLst xmlns:a="http://schemas.openxmlformats.org/drawingml/2006/main">
              <a:ext uri="{FF2B5EF4-FFF2-40B4-BE49-F238E27FC236}">
                <a16:creationId xmlns:a16="http://schemas.microsoft.com/office/drawing/2014/main" id="{3D3C1EC3-8F2C-43CD-93BE-B95AE925C460}"/>
              </a:ext>
            </a:extLst>
          </p:cNvPr>
          <p:cNvSpPr>
            <a:spLocks xmlns:a="http://schemas.openxmlformats.org/drawingml/2006/main" noGrp="1"/>
          </p:cNvSpPr>
          <p:nvPr/>
        </p:nvSpPr>
        <p:spPr>
          <a:xfrm xmlns:a="http://schemas.openxmlformats.org/drawingml/2006/main">
            <a:off x="6705600" y="3619500"/>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238"/>
                </a:solidFill>
                <a:latin typeface="Noto Sans"/>
                <a:ea typeface="Noto Sans"/>
                <a:cs typeface="Noto Sans"/>
              </a:defRPr>
            </a:pPr>
            <a:r>
              <a:rPr sz="2175" b="1">
                <a:solidFill>
                  <a:srgbClr val="102238"/>
                </a:solidFill>
                <a:latin typeface="Noto Sans"/>
                <a:ea typeface="Noto Sans"/>
                <a:cs typeface="Noto Sans"/>
              </a:rPr>
              <a:t>The value to measure</a:t>
            </a:r>
          </a:p>
        </p:txBody>
      </p:sp>
      <p:sp>
        <p:nvSpPr>
          <p:cNvPr id="6" name="text-42">
            <a:extLst xmlns:a="http://schemas.openxmlformats.org/drawingml/2006/main">
              <a:ext uri="{FF2B5EF4-FFF2-40B4-BE49-F238E27FC236}">
                <a16:creationId xmlns:a16="http://schemas.microsoft.com/office/drawing/2014/main" id="{4BC6A486-7611-4534-B1D6-588FBF184A5F}"/>
              </a:ext>
            </a:extLst>
          </p:cNvPr>
          <p:cNvSpPr>
            <a:spLocks xmlns:a="http://schemas.openxmlformats.org/drawingml/2006/main" noGrp="1"/>
          </p:cNvSpPr>
          <p:nvPr/>
        </p:nvSpPr>
        <p:spPr>
          <a:xfrm xmlns:a="http://schemas.openxmlformats.org/drawingml/2006/main">
            <a:off x="6705600" y="4257675"/>
            <a:ext cx="47625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2238"/>
                </a:solidFill>
                <a:latin typeface="Noto Sans"/>
                <a:ea typeface="Noto Sans"/>
                <a:cs typeface="Noto Sans"/>
              </a:defRPr>
            </a:pPr>
            <a:r>
              <a:rPr sz="1875" b="0">
                <a:solidFill>
                  <a:srgbClr val="102238"/>
                </a:solidFill>
                <a:latin typeface="Noto Sans"/>
                <a:ea typeface="Noto Sans"/>
                <a:cs typeface="Noto Sans"/>
              </a:rPr>
              <a:t>Preparation time and correction burden.</a:t>
            </a:r>
          </a:p>
          <a:p xmlns:a="http://schemas.openxmlformats.org/drawingml/2006/main">
            <a:pPr>
              <a:defRPr sz="1875" b="0">
                <a:solidFill>
                  <a:srgbClr val="102238"/>
                </a:solidFill>
                <a:latin typeface="Noto Sans"/>
                <a:ea typeface="Noto Sans"/>
                <a:cs typeface="Noto Sans"/>
              </a:defRPr>
            </a:pPr>
            <a:r>
              <a:rPr sz="1875" b="0">
                <a:solidFill>
                  <a:srgbClr val="102238"/>
                </a:solidFill>
                <a:latin typeface="Noto Sans"/>
                <a:ea typeface="Noto Sans"/>
                <a:cs typeface="Noto Sans"/>
              </a:rPr>
              <a:t>Five minutes saved x 100 episodes</a:t>
            </a:r>
          </a:p>
          <a:p xmlns:a="http://schemas.openxmlformats.org/drawingml/2006/main">
            <a:pPr>
              <a:defRPr sz="1875" b="0">
                <a:solidFill>
                  <a:srgbClr val="102238"/>
                </a:solidFill>
                <a:latin typeface="Noto Sans"/>
                <a:ea typeface="Noto Sans"/>
                <a:cs typeface="Noto Sans"/>
              </a:defRPr>
            </a:pPr>
            <a:r>
              <a:rPr sz="1875" b="0">
                <a:solidFill>
                  <a:srgbClr val="102238"/>
                </a:solidFill>
                <a:latin typeface="Noto Sans"/>
                <a:ea typeface="Noto Sans"/>
                <a:cs typeface="Noto Sans"/>
              </a:rPr>
              <a:t>at $35/hour = about $292/month.</a:t>
            </a:r>
          </a:p>
        </p:txBody>
      </p:sp>
      <p:sp>
        <p:nvSpPr>
          <p:cNvPr id="7" name="text-43">
            <a:extLst xmlns:a="http://schemas.openxmlformats.org/drawingml/2006/main">
              <a:ext uri="{FF2B5EF4-FFF2-40B4-BE49-F238E27FC236}">
                <a16:creationId xmlns:a16="http://schemas.microsoft.com/office/drawing/2014/main" id="{25E42133-9EF6-4293-9C9D-D516AA4040B8}"/>
              </a:ext>
            </a:extLst>
          </p:cNvPr>
          <p:cNvSpPr>
            <a:spLocks xmlns:a="http://schemas.openxmlformats.org/drawingml/2006/main" noGrp="1"/>
          </p:cNvSpPr>
          <p:nvPr/>
        </p:nvSpPr>
        <p:spPr>
          <a:xfrm xmlns:a="http://schemas.openxmlformats.org/drawingml/2006/main">
            <a:off x="685800" y="59531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238"/>
                </a:solidFill>
                <a:latin typeface="Noto Sans"/>
                <a:ea typeface="Noto Sans"/>
                <a:cs typeface="Noto Sans"/>
              </a:defRPr>
            </a:pPr>
            <a:r>
              <a:rPr sz="1425" b="0">
                <a:solidFill>
                  <a:srgbClr val="102238"/>
                </a:solidFill>
                <a:latin typeface="Noto Sans"/>
                <a:ea typeface="Noto Sans"/>
                <a:cs typeface="Noto Sans"/>
              </a:rPr>
              <a:t>Illustrative inputs, before review and implementation costs. No observed ROI.</a:t>
            </a:r>
          </a:p>
        </p:txBody>
      </p:sp>
      <p:sp>
        <p:nvSpPr>
          <p:cNvPr id="8" name="text-44">
            <a:extLst xmlns:a="http://schemas.openxmlformats.org/drawingml/2006/main">
              <a:ext uri="{FF2B5EF4-FFF2-40B4-BE49-F238E27FC236}">
                <a16:creationId xmlns:a16="http://schemas.microsoft.com/office/drawing/2014/main" id="{4DB920E0-6766-450F-A816-DDBD99A14D6E}"/>
              </a:ext>
            </a:extLst>
          </p:cNvPr>
          <p:cNvSpPr>
            <a:spLocks xmlns:a="http://schemas.openxmlformats.org/drawingml/2006/main" noGrp="1"/>
          </p:cNvSpPr>
          <p:nvPr/>
        </p:nvSpPr>
        <p:spPr>
          <a:xfrm xmlns:a="http://schemas.openxmlformats.org/drawingml/2006/main">
            <a:off x="685800" y="63817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A687C"/>
                </a:solidFill>
                <a:latin typeface="Noto Sans"/>
                <a:ea typeface="Noto Sans"/>
                <a:cs typeface="Noto Sans"/>
              </a:defRPr>
            </a:pPr>
            <a:r>
              <a:rPr sz="1200" b="0">
                <a:solidFill>
                  <a:srgbClr val="5A687C"/>
                </a:solidFill>
                <a:latin typeface="Noto Sans"/>
                <a:ea typeface="Noto Sans"/>
                <a:cs typeface="Noto Sans"/>
              </a:rPr>
              <a:t>Looplight / 06</a:t>
            </a:r>
          </a:p>
        </p:txBody>
      </p:sp>
    </p:spTree>
    <p:extLst>
      <p:ext uri="{BB962C8B-B14F-4D97-AF65-F5344CB8AC3E}">
        <p14:creationId xmlns:p14="http://schemas.microsoft.com/office/powerpoint/2010/main" val="2047719799"/>
      </p:ext>
    </p:extLst>
  </p:cSld>
</p:sld>
</file>

<file path=ppt/slides/slide7.xml><?xml version="1.0" encoding="utf-8"?>
<p:sld xmlns:p="http://schemas.openxmlformats.org/presentationml/2006/main">
  <p:cSld>
    <p:bg>
      <p:bgPr>
        <a:solidFill xmlns:a="http://schemas.openxmlformats.org/drawingml/2006/main">
          <a:srgbClr val="102238"/>
        </a:solidFill>
      </p:bgPr>
    </p:bg>
    <p:spTree>
      <p:nvGrpSpPr>
        <p:cNvPr id="1" name=""/>
        <p:cNvGrpSpPr/>
        <p:nvPr/>
      </p:nvGrpSpPr>
      <p:grpSpPr>
        <a:xfrm xmlns:a="http://schemas.openxmlformats.org/drawingml/2006/main"/>
      </p:grpSpPr>
      <p:sp>
        <p:nvSpPr>
          <p:cNvPr id="9" name="text-45">
            <a:extLst xmlns:a="http://schemas.openxmlformats.org/drawingml/2006/main">
              <a:ext uri="{FF2B5EF4-FFF2-40B4-BE49-F238E27FC236}">
                <a16:creationId xmlns:a16="http://schemas.microsoft.com/office/drawing/2014/main" id="{202783B6-D3C3-4A93-8E45-53BA1E6C3F5C}"/>
              </a:ext>
            </a:extLst>
          </p:cNvPr>
          <p:cNvSpPr>
            <a:spLocks xmlns:a="http://schemas.openxmlformats.org/drawingml/2006/main" noGrp="1"/>
          </p:cNvSpPr>
          <p:nvPr/>
        </p:nvSpPr>
        <p:spPr>
          <a:xfrm xmlns:a="http://schemas.openxmlformats.org/drawingml/2006/main">
            <a:off x="685800" y="5715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FFFFFF"/>
                </a:solidFill>
                <a:latin typeface="Noto Sans"/>
                <a:ea typeface="Noto Sans"/>
                <a:cs typeface="Noto Sans"/>
              </a:defRPr>
            </a:pPr>
            <a:r>
              <a:rPr sz="3675" b="1">
                <a:solidFill>
                  <a:srgbClr val="FFFFFF"/>
                </a:solidFill>
                <a:latin typeface="Noto Sans"/>
                <a:ea typeface="Noto Sans"/>
                <a:cs typeface="Noto Sans"/>
              </a:rPr>
              <a:t>Built to inspect. The next proof is a pilot.</a:t>
            </a:r>
          </a:p>
        </p:txBody>
      </p:sp>
      <p:sp>
        <p:nvSpPr>
          <p:cNvPr id="2" name="text-46">
            <a:extLst xmlns:a="http://schemas.openxmlformats.org/drawingml/2006/main">
              <a:ext uri="{FF2B5EF4-FFF2-40B4-BE49-F238E27FC236}">
                <a16:creationId xmlns:a16="http://schemas.microsoft.com/office/drawing/2014/main" id="{13BA903E-93C8-4321-B8A4-5A6D4EF4AA06}"/>
              </a:ext>
            </a:extLst>
          </p:cNvPr>
          <p:cNvSpPr>
            <a:spLocks xmlns:a="http://schemas.openxmlformats.org/drawingml/2006/main" noGrp="1"/>
          </p:cNvSpPr>
          <p:nvPr/>
        </p:nvSpPr>
        <p:spPr>
          <a:xfrm xmlns:a="http://schemas.openxmlformats.org/drawingml/2006/main">
            <a:off x="685800" y="2124075"/>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C7F578"/>
                </a:solidFill>
                <a:latin typeface="Noto Sans"/>
                <a:ea typeface="Noto Sans"/>
                <a:cs typeface="Noto Sans"/>
              </a:defRPr>
            </a:pPr>
            <a:r>
              <a:rPr sz="2325" b="1">
                <a:solidFill>
                  <a:srgbClr val="C7F578"/>
                </a:solidFill>
                <a:latin typeface="Noto Sans"/>
                <a:ea typeface="Noto Sans"/>
                <a:cs typeface="Noto Sans"/>
              </a:rPr>
              <a:t>A complete browser workflow</a:t>
            </a:r>
          </a:p>
        </p:txBody>
      </p:sp>
      <p:sp>
        <p:nvSpPr>
          <p:cNvPr id="3" name="text-47">
            <a:extLst xmlns:a="http://schemas.openxmlformats.org/drawingml/2006/main">
              <a:ext uri="{FF2B5EF4-FFF2-40B4-BE49-F238E27FC236}">
                <a16:creationId xmlns:a16="http://schemas.microsoft.com/office/drawing/2014/main" id="{D3249DC3-C0F1-46F4-BDE1-0E1964CFCD01}"/>
              </a:ext>
            </a:extLst>
          </p:cNvPr>
          <p:cNvSpPr>
            <a:spLocks xmlns:a="http://schemas.openxmlformats.org/drawingml/2006/main" noGrp="1"/>
          </p:cNvSpPr>
          <p:nvPr/>
        </p:nvSpPr>
        <p:spPr>
          <a:xfrm xmlns:a="http://schemas.openxmlformats.org/drawingml/2006/main">
            <a:off x="685800" y="3019425"/>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Browser: model, rules, and transitions.</a:t>
            </a:r>
          </a:p>
          <a:p xmlns:a="http://schemas.openxmlformats.org/drawingml/2006/main">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Firebase: hosting, sign-in, and storage.</a:t>
            </a:r>
          </a:p>
          <a:p xmlns:a="http://schemas.openxmlformats.org/drawingml/2006/main">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57 live Firebase checks passed.</a:t>
            </a:r>
          </a:p>
          <a:p xmlns:a="http://schemas.openxmlformats.org/drawingml/2006/main">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Owner isolation and persistence verified.</a:t>
            </a:r>
          </a:p>
        </p:txBody>
      </p:sp>
      <p:sp>
        <p:nvSpPr>
          <p:cNvPr id="4" name="text-48">
            <a:extLst xmlns:a="http://schemas.openxmlformats.org/drawingml/2006/main">
              <a:ext uri="{FF2B5EF4-FFF2-40B4-BE49-F238E27FC236}">
                <a16:creationId xmlns:a16="http://schemas.microsoft.com/office/drawing/2014/main" id="{19D194C3-7F02-47F7-A4F9-FF7D812F4B3E}"/>
              </a:ext>
            </a:extLst>
          </p:cNvPr>
          <p:cNvSpPr>
            <a:spLocks xmlns:a="http://schemas.openxmlformats.org/drawingml/2006/main" noGrp="1"/>
          </p:cNvSpPr>
          <p:nvPr/>
        </p:nvSpPr>
        <p:spPr>
          <a:xfrm xmlns:a="http://schemas.openxmlformats.org/drawingml/2006/main">
            <a:off x="6553200" y="2124075"/>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C7F578"/>
                </a:solidFill>
                <a:latin typeface="Noto Sans"/>
                <a:ea typeface="Noto Sans"/>
                <a:cs typeface="Noto Sans"/>
              </a:defRPr>
            </a:pPr>
            <a:r>
              <a:rPr sz="2325" b="1">
                <a:solidFill>
                  <a:srgbClr val="C7F578"/>
                </a:solidFill>
                <a:latin typeface="Noto Sans"/>
                <a:ea typeface="Noto Sans"/>
                <a:cs typeface="Noto Sans"/>
              </a:rPr>
              <a:t>What the pilot must measure</a:t>
            </a:r>
          </a:p>
        </p:txBody>
      </p:sp>
      <p:sp>
        <p:nvSpPr>
          <p:cNvPr id="5" name="text-49">
            <a:extLst xmlns:a="http://schemas.openxmlformats.org/drawingml/2006/main">
              <a:ext uri="{FF2B5EF4-FFF2-40B4-BE49-F238E27FC236}">
                <a16:creationId xmlns:a16="http://schemas.microsoft.com/office/drawing/2014/main" id="{FE788521-F2B6-4465-A9A4-BA621C182B71}"/>
              </a:ext>
            </a:extLst>
          </p:cNvPr>
          <p:cNvSpPr>
            <a:spLocks xmlns:a="http://schemas.openxmlformats.org/drawingml/2006/main" noGrp="1"/>
          </p:cNvSpPr>
          <p:nvPr/>
        </p:nvSpPr>
        <p:spPr>
          <a:xfrm xmlns:a="http://schemas.openxmlformats.org/drawingml/2006/main">
            <a:off x="6553200" y="3019425"/>
            <a:ext cx="4953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Missed actions and corrections.</a:t>
            </a:r>
          </a:p>
          <a:p xmlns:a="http://schemas.openxmlformats.org/drawingml/2006/main">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Preparation time and review burden.</a:t>
            </a:r>
          </a:p>
          <a:p xmlns:a="http://schemas.openxmlformats.org/drawingml/2006/main">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Reported follow-up resolution.</a:t>
            </a:r>
          </a:p>
        </p:txBody>
      </p:sp>
      <p:sp>
        <p:nvSpPr>
          <p:cNvPr id="6" name="text-50">
            <a:extLst xmlns:a="http://schemas.openxmlformats.org/drawingml/2006/main">
              <a:ext uri="{FF2B5EF4-FFF2-40B4-BE49-F238E27FC236}">
                <a16:creationId xmlns:a16="http://schemas.microsoft.com/office/drawing/2014/main" id="{C58597F9-CC88-429B-A799-A28F32B19429}"/>
              </a:ext>
            </a:extLst>
          </p:cNvPr>
          <p:cNvSpPr>
            <a:spLocks xmlns:a="http://schemas.openxmlformats.org/drawingml/2006/main" noGrp="1"/>
          </p:cNvSpPr>
          <p:nvPr/>
        </p:nvSpPr>
        <p:spPr>
          <a:xfrm xmlns:a="http://schemas.openxmlformats.org/drawingml/2006/main">
            <a:off x="685800" y="488632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DCE4EF"/>
                </a:solidFill>
                <a:latin typeface="Noto Sans"/>
                <a:ea typeface="Noto Sans"/>
                <a:cs typeface="Noto Sans"/>
              </a:defRPr>
            </a:pPr>
            <a:r>
              <a:rPr sz="1725" b="0">
                <a:solidFill>
                  <a:srgbClr val="DCE4EF"/>
                </a:solidFill>
                <a:latin typeface="Noto Sans"/>
                <a:ea typeface="Noto Sans"/>
                <a:cs typeface="Noto Sans"/>
              </a:rPr>
              <a:t>Prototype tested with synthetic data. No clinical validation or proven health benefit.</a:t>
            </a:r>
          </a:p>
        </p:txBody>
      </p:sp>
      <p:sp>
        <p:nvSpPr>
          <p:cNvPr id="7" name="text-51">
            <a:extLst xmlns:a="http://schemas.openxmlformats.org/drawingml/2006/main">
              <a:ext uri="{FF2B5EF4-FFF2-40B4-BE49-F238E27FC236}">
                <a16:creationId xmlns:a16="http://schemas.microsoft.com/office/drawing/2014/main" id="{9AC18409-5316-4B26-8F2D-CED28B0A6514}"/>
              </a:ext>
            </a:extLst>
          </p:cNvPr>
          <p:cNvSpPr>
            <a:spLocks xmlns:a="http://schemas.openxmlformats.org/drawingml/2006/main" noGrp="1"/>
          </p:cNvSpPr>
          <p:nvPr/>
        </p:nvSpPr>
        <p:spPr>
          <a:xfrm xmlns:a="http://schemas.openxmlformats.org/drawingml/2006/main">
            <a:off x="685800" y="5791200"/>
            <a:ext cx="1000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C7F578"/>
                </a:solidFill>
                <a:latin typeface="Noto Sans"/>
                <a:ea typeface="Noto Sans"/>
                <a:cs typeface="Noto Sans"/>
              </a:defRPr>
            </a:pPr>
            <a:r>
              <a:rPr sz="2100" b="1">
                <a:solidFill>
                  <a:srgbClr val="C7F578"/>
                </a:solidFill>
                <a:latin typeface="Noto Sans"/>
                <a:ea typeface="Noto Sans"/>
                <a:cs typeface="Noto Sans"/>
              </a:rPr>
              <a:t>looplight-care.web.app</a:t>
            </a:r>
          </a:p>
        </p:txBody>
      </p:sp>
      <p:sp>
        <p:nvSpPr>
          <p:cNvPr id="8" name="text-52">
            <a:extLst xmlns:a="http://schemas.openxmlformats.org/drawingml/2006/main">
              <a:ext uri="{FF2B5EF4-FFF2-40B4-BE49-F238E27FC236}">
                <a16:creationId xmlns:a16="http://schemas.microsoft.com/office/drawing/2014/main" id="{F09CE463-40D9-4AD2-BFCF-492C8F3A06A8}"/>
              </a:ext>
            </a:extLst>
          </p:cNvPr>
          <p:cNvSpPr>
            <a:spLocks xmlns:a="http://schemas.openxmlformats.org/drawingml/2006/main" noGrp="1"/>
          </p:cNvSpPr>
          <p:nvPr/>
        </p:nvSpPr>
        <p:spPr>
          <a:xfrm xmlns:a="http://schemas.openxmlformats.org/drawingml/2006/main">
            <a:off x="685800" y="621030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DCE4EF"/>
                </a:solidFill>
                <a:latin typeface="Noto Sans"/>
                <a:ea typeface="Noto Sans"/>
                <a:cs typeface="Noto Sans"/>
              </a:defRPr>
            </a:pPr>
            <a:r>
              <a:rPr sz="1500" b="0">
                <a:solidFill>
                  <a:srgbClr val="DCE4EF"/>
                </a:solidFill>
                <a:latin typeface="Noto Sans"/>
                <a:ea typeface="Noto Sans"/>
                <a:cs typeface="Noto Sans"/>
              </a:rPr>
              <a:t>github.com/shi1720/UnivaBio</a:t>
            </a:r>
          </a:p>
        </p:txBody>
      </p:sp>
    </p:spTree>
    <p:extLst>
      <p:ext uri="{BB962C8B-B14F-4D97-AF65-F5344CB8AC3E}">
        <p14:creationId xmlns:p14="http://schemas.microsoft.com/office/powerpoint/2010/main" val="1021561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2026-09-15T17:15:45.1530000Z</dcterms:created>
  <dcterms:modified xsi:type="dcterms:W3CDTF">2026-09-15T17:15:45.1530000Z</dcterms:modified>
</coreProperties>
</file>